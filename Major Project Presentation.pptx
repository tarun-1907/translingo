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DM Sans Bold" charset="1" panose="00000000000000000000"/>
      <p:regular r:id="rId20"/>
    </p:embeddedFont>
    <p:embeddedFont>
      <p:font typeface="DM Sans" charset="1" panose="000000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svg" Type="http://schemas.openxmlformats.org/officeDocument/2006/relationships/image"/><Relationship Id="rId11" Target="../media/image10.png" Type="http://schemas.openxmlformats.org/officeDocument/2006/relationships/image"/><Relationship Id="rId12" Target="../media/image11.svg" Type="http://schemas.openxmlformats.org/officeDocument/2006/relationships/image"/><Relationship Id="rId13" Target="../media/image12.png" Type="http://schemas.openxmlformats.org/officeDocument/2006/relationships/image"/><Relationship Id="rId14" Target="../media/image13.svg" Type="http://schemas.openxmlformats.org/officeDocument/2006/relationships/image"/><Relationship Id="rId15" Target="../media/image14.png" Type="http://schemas.openxmlformats.org/officeDocument/2006/relationships/image"/><Relationship Id="rId16" Target="../media/image15.svg" Type="http://schemas.openxmlformats.org/officeDocument/2006/relationships/image"/><Relationship Id="rId17" Target="../media/image16.png" Type="http://schemas.openxmlformats.org/officeDocument/2006/relationships/image"/><Relationship Id="rId18" Target="../media/image17.svg" Type="http://schemas.openxmlformats.org/officeDocument/2006/relationships/image"/><Relationship Id="rId19" Target="../media/image18.png" Type="http://schemas.openxmlformats.org/officeDocument/2006/relationships/image"/><Relationship Id="rId2" Target="../media/image1.png" Type="http://schemas.openxmlformats.org/officeDocument/2006/relationships/image"/><Relationship Id="rId20" Target="../media/image19.svg" Type="http://schemas.openxmlformats.org/officeDocument/2006/relationships/image"/><Relationship Id="rId21" Target="../media/image20.png" Type="http://schemas.openxmlformats.org/officeDocument/2006/relationships/image"/><Relationship Id="rId22" Target="../media/image21.svg" Type="http://schemas.openxmlformats.org/officeDocument/2006/relationships/image"/><Relationship Id="rId23" Target="../media/image22.png" Type="http://schemas.openxmlformats.org/officeDocument/2006/relationships/image"/><Relationship Id="rId24" Target="../media/image23.svg" Type="http://schemas.openxmlformats.org/officeDocument/2006/relationships/image"/><Relationship Id="rId25" Target="../media/image24.png" Type="http://schemas.openxmlformats.org/officeDocument/2006/relationships/image"/><Relationship Id="rId26" Target="../media/image25.svg" Type="http://schemas.openxmlformats.org/officeDocument/2006/relationships/image"/><Relationship Id="rId27" Target="../media/image26.png" Type="http://schemas.openxmlformats.org/officeDocument/2006/relationships/image"/><Relationship Id="rId28" Target="../media/image27.svg" Type="http://schemas.openxmlformats.org/officeDocument/2006/relationships/image"/><Relationship Id="rId29" Target="../media/image28.png" Type="http://schemas.openxmlformats.org/officeDocument/2006/relationships/image"/><Relationship Id="rId3" Target="../media/image2.png" Type="http://schemas.openxmlformats.org/officeDocument/2006/relationships/image"/><Relationship Id="rId30" Target="../media/image29.sv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 Id="rId8" Target="../media/image7.svg" Type="http://schemas.openxmlformats.org/officeDocument/2006/relationships/image"/><Relationship Id="rId9" Target="../media/image8.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20.png" Type="http://schemas.openxmlformats.org/officeDocument/2006/relationships/image"/><Relationship Id="rId12" Target="../media/image21.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2" Target="../media/image1.png" Type="http://schemas.openxmlformats.org/officeDocument/2006/relationships/image"/><Relationship Id="rId3" Target="../media/image30.png" Type="http://schemas.openxmlformats.org/officeDocument/2006/relationships/image"/><Relationship Id="rId4" Target="../media/image31.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9.svg" Type="http://schemas.openxmlformats.org/officeDocument/2006/relationships/image"/><Relationship Id="rId2" Target="../media/image1.png" Type="http://schemas.openxmlformats.org/officeDocument/2006/relationships/image"/><Relationship Id="rId3" Target="../media/image4.png" Type="http://schemas.openxmlformats.org/officeDocument/2006/relationships/image"/><Relationship Id="rId4" Target="../media/image5.svg" Type="http://schemas.openxmlformats.org/officeDocument/2006/relationships/image"/><Relationship Id="rId5" Target="../media/image16.png" Type="http://schemas.openxmlformats.org/officeDocument/2006/relationships/image"/><Relationship Id="rId6" Target="../media/image17.svg" Type="http://schemas.openxmlformats.org/officeDocument/2006/relationships/image"/><Relationship Id="rId7" Target="../media/image24.png" Type="http://schemas.openxmlformats.org/officeDocument/2006/relationships/image"/><Relationship Id="rId8" Target="../media/image25.svg" Type="http://schemas.openxmlformats.org/officeDocument/2006/relationships/image"/><Relationship Id="rId9" Target="../media/image2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29" Target="../media/image32.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8.png" Type="http://schemas.openxmlformats.org/officeDocument/2006/relationships/image"/><Relationship Id="rId18" Target="../media/image29.svg" Type="http://schemas.openxmlformats.org/officeDocument/2006/relationships/image"/><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0.png" Type="http://schemas.openxmlformats.org/officeDocument/2006/relationships/image"/><Relationship Id="rId8" Target="../media/image11.svg" Type="http://schemas.openxmlformats.org/officeDocument/2006/relationships/image"/><Relationship Id="rId9" Target="../media/image14.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6.png" Type="http://schemas.openxmlformats.org/officeDocument/2006/relationships/image"/><Relationship Id="rId4" Target="../media/image27.svg" Type="http://schemas.openxmlformats.org/officeDocument/2006/relationships/image"/><Relationship Id="rId5" Target="../media/image3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36.png" Type="http://schemas.openxmlformats.org/officeDocument/2006/relationships/image"/><Relationship Id="rId6" Target="../media/image37.svg" Type="http://schemas.openxmlformats.org/officeDocument/2006/relationships/image"/><Relationship Id="rId7" Target="../media/image38.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39.png" Type="http://schemas.openxmlformats.org/officeDocument/2006/relationships/image"/><Relationship Id="rId6" Target="../media/image40.sv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0.png" Type="http://schemas.openxmlformats.org/officeDocument/2006/relationships/image"/><Relationship Id="rId4" Target="../media/image21.svg" Type="http://schemas.openxmlformats.org/officeDocument/2006/relationships/image"/><Relationship Id="rId5" Target="../media/image41.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5.svg" Type="http://schemas.openxmlformats.org/officeDocument/2006/relationships/image"/><Relationship Id="rId11" Target="../media/image16.png" Type="http://schemas.openxmlformats.org/officeDocument/2006/relationships/image"/><Relationship Id="rId12" Target="../media/image17.svg" Type="http://schemas.openxmlformats.org/officeDocument/2006/relationships/image"/><Relationship Id="rId13" Target="../media/image20.png" Type="http://schemas.openxmlformats.org/officeDocument/2006/relationships/image"/><Relationship Id="rId14" Target="../media/image21.svg" Type="http://schemas.openxmlformats.org/officeDocument/2006/relationships/image"/><Relationship Id="rId15" Target="../media/image24.png" Type="http://schemas.openxmlformats.org/officeDocument/2006/relationships/image"/><Relationship Id="rId16" Target="../media/image25.svg" Type="http://schemas.openxmlformats.org/officeDocument/2006/relationships/image"/><Relationship Id="rId17" Target="../media/image26.png" Type="http://schemas.openxmlformats.org/officeDocument/2006/relationships/image"/><Relationship Id="rId18" Target="../media/image27.svg" Type="http://schemas.openxmlformats.org/officeDocument/2006/relationships/image"/><Relationship Id="rId19" Target="../media/image42.png" Type="http://schemas.openxmlformats.org/officeDocument/2006/relationships/image"/><Relationship Id="rId2" Target="../media/image1.png" Type="http://schemas.openxmlformats.org/officeDocument/2006/relationships/image"/><Relationship Id="rId20" Target="../media/image22.png" Type="http://schemas.openxmlformats.org/officeDocument/2006/relationships/image"/><Relationship Id="rId21" Target="../media/image23.svg" Type="http://schemas.openxmlformats.org/officeDocument/2006/relationships/image"/><Relationship Id="rId22" Target="../media/image10.png" Type="http://schemas.openxmlformats.org/officeDocument/2006/relationships/image"/><Relationship Id="rId23" Target="../media/image11.svg" Type="http://schemas.openxmlformats.org/officeDocument/2006/relationships/image"/><Relationship Id="rId24" Target="../media/image4.png" Type="http://schemas.openxmlformats.org/officeDocument/2006/relationships/image"/><Relationship Id="rId25" Target="../media/image5.svg" Type="http://schemas.openxmlformats.org/officeDocument/2006/relationships/image"/><Relationship Id="rId26" Target="../media/image18.png" Type="http://schemas.openxmlformats.org/officeDocument/2006/relationships/image"/><Relationship Id="rId27" Target="../media/image19.svg" Type="http://schemas.openxmlformats.org/officeDocument/2006/relationships/image"/><Relationship Id="rId28" Target="../media/image28.png" Type="http://schemas.openxmlformats.org/officeDocument/2006/relationships/image"/><Relationship Id="rId29" Target="../media/image2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8.png" Type="http://schemas.openxmlformats.org/officeDocument/2006/relationships/image"/><Relationship Id="rId6" Target="../media/image9.svg" Type="http://schemas.openxmlformats.org/officeDocument/2006/relationships/image"/><Relationship Id="rId7" Target="../media/image12.png" Type="http://schemas.openxmlformats.org/officeDocument/2006/relationships/image"/><Relationship Id="rId8" Target="../media/image13.svg" Type="http://schemas.openxmlformats.org/officeDocument/2006/relationships/image"/><Relationship Id="rId9" Target="../media/image14.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50.svg" Type="http://schemas.openxmlformats.org/officeDocument/2006/relationships/image"/><Relationship Id="rId11" Target="../media/image51.png" Type="http://schemas.openxmlformats.org/officeDocument/2006/relationships/image"/><Relationship Id="rId12" Target="../media/image52.svg" Type="http://schemas.openxmlformats.org/officeDocument/2006/relationships/image"/><Relationship Id="rId13" Target="../media/image53.png" Type="http://schemas.openxmlformats.org/officeDocument/2006/relationships/image"/><Relationship Id="rId14" Target="../media/image54.svg" Type="http://schemas.openxmlformats.org/officeDocument/2006/relationships/image"/><Relationship Id="rId15" Target="../media/image55.png" Type="http://schemas.openxmlformats.org/officeDocument/2006/relationships/image"/><Relationship Id="rId16" Target="../media/image56.svg" Type="http://schemas.openxmlformats.org/officeDocument/2006/relationships/image"/><Relationship Id="rId2" Target="../media/image1.png" Type="http://schemas.openxmlformats.org/officeDocument/2006/relationships/image"/><Relationship Id="rId3" Target="../media/image43.png" Type="http://schemas.openxmlformats.org/officeDocument/2006/relationships/image"/><Relationship Id="rId4" Target="../media/image44.svg" Type="http://schemas.openxmlformats.org/officeDocument/2006/relationships/image"/><Relationship Id="rId5" Target="../media/image45.png" Type="http://schemas.openxmlformats.org/officeDocument/2006/relationships/image"/><Relationship Id="rId6" Target="../media/image46.svg" Type="http://schemas.openxmlformats.org/officeDocument/2006/relationships/image"/><Relationship Id="rId7" Target="../media/image47.png" Type="http://schemas.openxmlformats.org/officeDocument/2006/relationships/image"/><Relationship Id="rId8" Target="../media/image48.svg" Type="http://schemas.openxmlformats.org/officeDocument/2006/relationships/image"/><Relationship Id="rId9" Target="../media/image49.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1.svg" Type="http://schemas.openxmlformats.org/officeDocument/2006/relationships/image"/><Relationship Id="rId11" Target="../media/image12.png" Type="http://schemas.openxmlformats.org/officeDocument/2006/relationships/image"/><Relationship Id="rId12" Target="../media/image13.svg" Type="http://schemas.openxmlformats.org/officeDocument/2006/relationships/image"/><Relationship Id="rId13" Target="../media/image14.png" Type="http://schemas.openxmlformats.org/officeDocument/2006/relationships/image"/><Relationship Id="rId14" Target="../media/image15.svg" Type="http://schemas.openxmlformats.org/officeDocument/2006/relationships/image"/><Relationship Id="rId15" Target="../media/image16.png" Type="http://schemas.openxmlformats.org/officeDocument/2006/relationships/image"/><Relationship Id="rId16" Target="../media/image17.svg" Type="http://schemas.openxmlformats.org/officeDocument/2006/relationships/image"/><Relationship Id="rId17" Target="../media/image18.png" Type="http://schemas.openxmlformats.org/officeDocument/2006/relationships/image"/><Relationship Id="rId18" Target="../media/image19.svg" Type="http://schemas.openxmlformats.org/officeDocument/2006/relationships/image"/><Relationship Id="rId19" Target="../media/image20.png" Type="http://schemas.openxmlformats.org/officeDocument/2006/relationships/image"/><Relationship Id="rId2" Target="../media/image1.png" Type="http://schemas.openxmlformats.org/officeDocument/2006/relationships/image"/><Relationship Id="rId20" Target="../media/image21.svg" Type="http://schemas.openxmlformats.org/officeDocument/2006/relationships/image"/><Relationship Id="rId21" Target="../media/image22.png" Type="http://schemas.openxmlformats.org/officeDocument/2006/relationships/image"/><Relationship Id="rId22" Target="../media/image23.svg" Type="http://schemas.openxmlformats.org/officeDocument/2006/relationships/image"/><Relationship Id="rId23" Target="../media/image24.png" Type="http://schemas.openxmlformats.org/officeDocument/2006/relationships/image"/><Relationship Id="rId24" Target="../media/image25.svg" Type="http://schemas.openxmlformats.org/officeDocument/2006/relationships/image"/><Relationship Id="rId25" Target="../media/image26.png" Type="http://schemas.openxmlformats.org/officeDocument/2006/relationships/image"/><Relationship Id="rId26" Target="../media/image27.svg" Type="http://schemas.openxmlformats.org/officeDocument/2006/relationships/image"/><Relationship Id="rId27" Target="../media/image28.png" Type="http://schemas.openxmlformats.org/officeDocument/2006/relationships/image"/><Relationship Id="rId28" Target="../media/image29.sv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8.png" Type="http://schemas.openxmlformats.org/officeDocument/2006/relationships/image"/><Relationship Id="rId8" Target="../media/image9.svg" Type="http://schemas.openxmlformats.org/officeDocument/2006/relationships/image"/><Relationship Id="rId9" Target="../media/image1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36705" y="6409875"/>
            <a:ext cx="724985" cy="920616"/>
          </a:xfrm>
          <a:custGeom>
            <a:avLst/>
            <a:gdLst/>
            <a:ahLst/>
            <a:cxnLst/>
            <a:rect r="r" b="b" t="t" l="l"/>
            <a:pathLst>
              <a:path h="920616" w="724985">
                <a:moveTo>
                  <a:pt x="0" y="0"/>
                </a:moveTo>
                <a:lnTo>
                  <a:pt x="724986" y="0"/>
                </a:lnTo>
                <a:lnTo>
                  <a:pt x="724986"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6" id="6"/>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9">
              <a:extLst>
                <a:ext uri="{96DAC541-7B7A-43D3-8B79-37D633B846F1}">
                  <asvg:svgBlip xmlns:asvg="http://schemas.microsoft.com/office/drawing/2016/SVG/main" r:embed="rId30"/>
                </a:ext>
              </a:extLst>
            </a:blip>
            <a:stretch>
              <a:fillRect l="0" t="0" r="0" b="0"/>
            </a:stretch>
          </a:blipFill>
          <a:ln cap="sq">
            <a:noFill/>
            <a:prstDash val="solid"/>
            <a:miter/>
          </a:ln>
        </p:spPr>
      </p:sp>
      <p:sp>
        <p:nvSpPr>
          <p:cNvPr name="TextBox 17" id="17"/>
          <p:cNvSpPr txBox="true"/>
          <p:nvPr/>
        </p:nvSpPr>
        <p:spPr>
          <a:xfrm rot="0">
            <a:off x="3688802" y="3136543"/>
            <a:ext cx="10910396" cy="3200970"/>
          </a:xfrm>
          <a:prstGeom prst="rect">
            <a:avLst/>
          </a:prstGeom>
        </p:spPr>
        <p:txBody>
          <a:bodyPr anchor="t" rtlCol="false" tIns="0" lIns="0" bIns="0" rIns="0">
            <a:spAutoFit/>
          </a:bodyPr>
          <a:lstStyle/>
          <a:p>
            <a:pPr algn="ctr">
              <a:lnSpc>
                <a:spcPts val="12218"/>
              </a:lnSpc>
            </a:pPr>
            <a:r>
              <a:rPr lang="en-US" b="true" sz="12998">
                <a:solidFill>
                  <a:srgbClr val="000000"/>
                </a:solidFill>
                <a:latin typeface="DM Sans Bold"/>
                <a:ea typeface="DM Sans Bold"/>
                <a:cs typeface="DM Sans Bold"/>
                <a:sym typeface="DM Sans Bold"/>
              </a:rPr>
              <a:t>Major Project Presentation</a:t>
            </a:r>
          </a:p>
        </p:txBody>
      </p:sp>
      <p:sp>
        <p:nvSpPr>
          <p:cNvPr name="Freeform 18" id="18"/>
          <p:cNvSpPr/>
          <p:nvPr/>
        </p:nvSpPr>
        <p:spPr>
          <a:xfrm flipH="false" flipV="false" rot="0">
            <a:off x="4997492" y="2262342"/>
            <a:ext cx="724985" cy="920616"/>
          </a:xfrm>
          <a:custGeom>
            <a:avLst/>
            <a:gdLst/>
            <a:ahLst/>
            <a:cxnLst/>
            <a:rect r="r" b="b" t="t" l="l"/>
            <a:pathLst>
              <a:path h="920616" w="724985">
                <a:moveTo>
                  <a:pt x="0" y="0"/>
                </a:moveTo>
                <a:lnTo>
                  <a:pt x="724985" y="0"/>
                </a:lnTo>
                <a:lnTo>
                  <a:pt x="724985" y="920616"/>
                </a:lnTo>
                <a:lnTo>
                  <a:pt x="0" y="92061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2023634" y="2728980"/>
            <a:ext cx="6264366" cy="6104909"/>
          </a:xfrm>
          <a:custGeom>
            <a:avLst/>
            <a:gdLst/>
            <a:ahLst/>
            <a:cxnLst/>
            <a:rect r="r" b="b" t="t" l="l"/>
            <a:pathLst>
              <a:path h="6104909" w="6264366">
                <a:moveTo>
                  <a:pt x="0" y="0"/>
                </a:moveTo>
                <a:lnTo>
                  <a:pt x="6264366" y="0"/>
                </a:lnTo>
                <a:lnTo>
                  <a:pt x="6264366" y="6104909"/>
                </a:lnTo>
                <a:lnTo>
                  <a:pt x="0" y="6104909"/>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7951355" y="337499"/>
            <a:ext cx="7848753" cy="22821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Origin of the creative idea</a:t>
            </a:r>
          </a:p>
        </p:txBody>
      </p:sp>
      <p:sp>
        <p:nvSpPr>
          <p:cNvPr name="TextBox 5" id="5"/>
          <p:cNvSpPr txBox="true"/>
          <p:nvPr/>
        </p:nvSpPr>
        <p:spPr>
          <a:xfrm rot="0">
            <a:off x="660325" y="3235147"/>
            <a:ext cx="10521810" cy="5324475"/>
          </a:xfrm>
          <a:prstGeom prst="rect">
            <a:avLst/>
          </a:prstGeom>
        </p:spPr>
        <p:txBody>
          <a:bodyPr anchor="t" rtlCol="false" tIns="0" lIns="0" bIns="0" rIns="0">
            <a:spAutoFit/>
          </a:bodyPr>
          <a:lstStyle/>
          <a:p>
            <a:pPr algn="l" marL="0" indent="0" lvl="0">
              <a:lnSpc>
                <a:spcPts val="2699"/>
              </a:lnSpc>
              <a:spcBef>
                <a:spcPct val="0"/>
              </a:spcBef>
            </a:pPr>
            <a:r>
              <a:rPr lang="en-US" sz="1999" spc="119">
                <a:solidFill>
                  <a:srgbClr val="000000"/>
                </a:solidFill>
                <a:latin typeface="DM Sans"/>
                <a:ea typeface="DM Sans"/>
                <a:cs typeface="DM Sans"/>
                <a:sym typeface="DM Sans"/>
              </a:rPr>
              <a:t>This project presents a machine learning-based solution for real-time transcription and translation, addressing the critical needs of accessibility and multilingual communication in media. Utilizing a versatile user interface for handling both audio and video inputs, the system integrates advanced NLP techniques and transformer models to offer live captioning, speech synthesis, translation, and summarization. It achieves high accuracy in translations across multiple regional Indian languages through methods like topic extraction, bias detection, and recursive feature selection, all implemented on Google Colab with the transformers library for efficient processing. Cross-validation was employed to optimize key performance metrics—accuracy, latency, and language coverage—ensuring a reliable and inclusive solution. This robust framework addresses media inclusivity gaps and has applications in business, education, and accessibility programs. Additionally, the integration of bias detection and interpretable outputs promotes proactive decision-making, expanding information accessibility for a broader audience and enriching the user experience.</a:t>
            </a:r>
          </a:p>
        </p:txBody>
      </p:sp>
      <p:sp>
        <p:nvSpPr>
          <p:cNvPr name="Freeform 6" id="6"/>
          <p:cNvSpPr/>
          <p:nvPr/>
        </p:nvSpPr>
        <p:spPr>
          <a:xfrm flipH="false" flipV="false" rot="0">
            <a:off x="15353489"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7" id="7"/>
          <p:cNvSpPr/>
          <p:nvPr/>
        </p:nvSpPr>
        <p:spPr>
          <a:xfrm flipH="false" flipV="false" rot="0">
            <a:off x="-564865" y="-583486"/>
            <a:ext cx="4899948" cy="3068592"/>
          </a:xfrm>
          <a:custGeom>
            <a:avLst/>
            <a:gdLst/>
            <a:ahLst/>
            <a:cxnLst/>
            <a:rect r="r" b="b" t="t" l="l"/>
            <a:pathLst>
              <a:path h="3068592" w="4899948">
                <a:moveTo>
                  <a:pt x="0" y="0"/>
                </a:moveTo>
                <a:lnTo>
                  <a:pt x="4899948" y="0"/>
                </a:lnTo>
                <a:lnTo>
                  <a:pt x="4899948" y="3068593"/>
                </a:lnTo>
                <a:lnTo>
                  <a:pt x="0" y="306859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8" id="8"/>
          <p:cNvSpPr/>
          <p:nvPr/>
        </p:nvSpPr>
        <p:spPr>
          <a:xfrm flipH="false" flipV="false" rot="0">
            <a:off x="9144000"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9" id="9"/>
          <p:cNvSpPr/>
          <p:nvPr/>
        </p:nvSpPr>
        <p:spPr>
          <a:xfrm flipH="false" flipV="false" rot="0">
            <a:off x="4908318" y="-1699342"/>
            <a:ext cx="2892762" cy="2919301"/>
          </a:xfrm>
          <a:custGeom>
            <a:avLst/>
            <a:gdLst/>
            <a:ahLst/>
            <a:cxnLst/>
            <a:rect r="r" b="b" t="t" l="l"/>
            <a:pathLst>
              <a:path h="2919301" w="2892762">
                <a:moveTo>
                  <a:pt x="0" y="0"/>
                </a:moveTo>
                <a:lnTo>
                  <a:pt x="2892762" y="0"/>
                </a:lnTo>
                <a:lnTo>
                  <a:pt x="2892762" y="2919301"/>
                </a:lnTo>
                <a:lnTo>
                  <a:pt x="0" y="2919301"/>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10" id="10"/>
          <p:cNvSpPr/>
          <p:nvPr/>
        </p:nvSpPr>
        <p:spPr>
          <a:xfrm flipH="false" flipV="false" rot="-5282649">
            <a:off x="16004285" y="265374"/>
            <a:ext cx="4017207" cy="1370872"/>
          </a:xfrm>
          <a:custGeom>
            <a:avLst/>
            <a:gdLst/>
            <a:ahLst/>
            <a:cxnLst/>
            <a:rect r="r" b="b" t="t" l="l"/>
            <a:pathLst>
              <a:path h="1370872" w="4017207">
                <a:moveTo>
                  <a:pt x="0" y="0"/>
                </a:moveTo>
                <a:lnTo>
                  <a:pt x="4017207" y="0"/>
                </a:lnTo>
                <a:lnTo>
                  <a:pt x="4017207" y="1370872"/>
                </a:lnTo>
                <a:lnTo>
                  <a:pt x="0" y="137087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TextBox 3" id="3"/>
          <p:cNvSpPr txBox="true"/>
          <p:nvPr/>
        </p:nvSpPr>
        <p:spPr>
          <a:xfrm rot="0">
            <a:off x="1060506" y="3545205"/>
            <a:ext cx="7025086" cy="33870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Project vision and mission</a:t>
            </a:r>
          </a:p>
        </p:txBody>
      </p:sp>
      <p:grpSp>
        <p:nvGrpSpPr>
          <p:cNvPr name="Group 4" id="4"/>
          <p:cNvGrpSpPr/>
          <p:nvPr/>
        </p:nvGrpSpPr>
        <p:grpSpPr>
          <a:xfrm rot="0">
            <a:off x="9975489" y="1170261"/>
            <a:ext cx="6998061" cy="2561528"/>
            <a:chOff x="0" y="0"/>
            <a:chExt cx="2342659" cy="857492"/>
          </a:xfrm>
        </p:grpSpPr>
        <p:sp>
          <p:nvSpPr>
            <p:cNvPr name="Freeform 5" id="5"/>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6" id="6"/>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sp>
        <p:nvSpPr>
          <p:cNvPr name="TextBox 7" id="7"/>
          <p:cNvSpPr txBox="true"/>
          <p:nvPr/>
        </p:nvSpPr>
        <p:spPr>
          <a:xfrm rot="0">
            <a:off x="10150139" y="2024301"/>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01.</a:t>
            </a:r>
          </a:p>
        </p:txBody>
      </p:sp>
      <p:grpSp>
        <p:nvGrpSpPr>
          <p:cNvPr name="Group 8" id="8"/>
          <p:cNvGrpSpPr/>
          <p:nvPr/>
        </p:nvGrpSpPr>
        <p:grpSpPr>
          <a:xfrm rot="0">
            <a:off x="9975489" y="3862348"/>
            <a:ext cx="6998061" cy="2561528"/>
            <a:chOff x="0" y="0"/>
            <a:chExt cx="2342659" cy="857492"/>
          </a:xfrm>
        </p:grpSpPr>
        <p:sp>
          <p:nvSpPr>
            <p:cNvPr name="Freeform 9" id="9"/>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10" id="10"/>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grpSp>
        <p:nvGrpSpPr>
          <p:cNvPr name="Group 11" id="11"/>
          <p:cNvGrpSpPr/>
          <p:nvPr/>
        </p:nvGrpSpPr>
        <p:grpSpPr>
          <a:xfrm rot="0">
            <a:off x="9975489" y="6557226"/>
            <a:ext cx="6998061" cy="2561528"/>
            <a:chOff x="0" y="0"/>
            <a:chExt cx="2342659" cy="857492"/>
          </a:xfrm>
        </p:grpSpPr>
        <p:sp>
          <p:nvSpPr>
            <p:cNvPr name="Freeform 12" id="12"/>
            <p:cNvSpPr/>
            <p:nvPr/>
          </p:nvSpPr>
          <p:spPr>
            <a:xfrm flipH="false" flipV="false" rot="0">
              <a:off x="0" y="0"/>
              <a:ext cx="2342659" cy="857492"/>
            </a:xfrm>
            <a:custGeom>
              <a:avLst/>
              <a:gdLst/>
              <a:ahLst/>
              <a:cxnLst/>
              <a:rect r="r" b="b" t="t" l="l"/>
              <a:pathLst>
                <a:path h="857492" w="2342659">
                  <a:moveTo>
                    <a:pt x="16594" y="0"/>
                  </a:moveTo>
                  <a:lnTo>
                    <a:pt x="2326064" y="0"/>
                  </a:lnTo>
                  <a:cubicBezTo>
                    <a:pt x="2335229" y="0"/>
                    <a:pt x="2342659" y="7430"/>
                    <a:pt x="2342659" y="16594"/>
                  </a:cubicBezTo>
                  <a:lnTo>
                    <a:pt x="2342659" y="840898"/>
                  </a:lnTo>
                  <a:cubicBezTo>
                    <a:pt x="2342659" y="845299"/>
                    <a:pt x="2340910" y="849520"/>
                    <a:pt x="2337798" y="852632"/>
                  </a:cubicBezTo>
                  <a:cubicBezTo>
                    <a:pt x="2334686" y="855744"/>
                    <a:pt x="2330465" y="857492"/>
                    <a:pt x="2326064" y="857492"/>
                  </a:cubicBezTo>
                  <a:lnTo>
                    <a:pt x="16594" y="857492"/>
                  </a:lnTo>
                  <a:cubicBezTo>
                    <a:pt x="7430" y="857492"/>
                    <a:pt x="0" y="850063"/>
                    <a:pt x="0" y="840898"/>
                  </a:cubicBezTo>
                  <a:lnTo>
                    <a:pt x="0" y="16594"/>
                  </a:lnTo>
                  <a:cubicBezTo>
                    <a:pt x="0" y="7430"/>
                    <a:pt x="7430" y="0"/>
                    <a:pt x="16594" y="0"/>
                  </a:cubicBezTo>
                  <a:close/>
                </a:path>
              </a:pathLst>
            </a:custGeom>
            <a:solidFill>
              <a:srgbClr val="8AB7E2"/>
            </a:solidFill>
          </p:spPr>
        </p:sp>
        <p:sp>
          <p:nvSpPr>
            <p:cNvPr name="TextBox 13" id="13"/>
            <p:cNvSpPr txBox="true"/>
            <p:nvPr/>
          </p:nvSpPr>
          <p:spPr>
            <a:xfrm>
              <a:off x="0" y="85725"/>
              <a:ext cx="2342659" cy="771767"/>
            </a:xfrm>
            <a:prstGeom prst="rect">
              <a:avLst/>
            </a:prstGeom>
          </p:spPr>
          <p:txBody>
            <a:bodyPr anchor="ctr" rtlCol="false" tIns="50800" lIns="50800" bIns="50800" rIns="50800"/>
            <a:lstStyle/>
            <a:p>
              <a:pPr algn="ctr">
                <a:lnSpc>
                  <a:spcPts val="1925"/>
                </a:lnSpc>
              </a:pPr>
            </a:p>
          </p:txBody>
        </p:sp>
      </p:grpSp>
      <p:sp>
        <p:nvSpPr>
          <p:cNvPr name="TextBox 14" id="14"/>
          <p:cNvSpPr txBox="true"/>
          <p:nvPr/>
        </p:nvSpPr>
        <p:spPr>
          <a:xfrm rot="0">
            <a:off x="10150139" y="4716388"/>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02.</a:t>
            </a:r>
          </a:p>
        </p:txBody>
      </p:sp>
      <p:sp>
        <p:nvSpPr>
          <p:cNvPr name="TextBox 15" id="15"/>
          <p:cNvSpPr txBox="true"/>
          <p:nvPr/>
        </p:nvSpPr>
        <p:spPr>
          <a:xfrm rot="0">
            <a:off x="10150139" y="7411266"/>
            <a:ext cx="1578952" cy="1034423"/>
          </a:xfrm>
          <a:prstGeom prst="rect">
            <a:avLst/>
          </a:prstGeom>
        </p:spPr>
        <p:txBody>
          <a:bodyPr anchor="t" rtlCol="false" tIns="0" lIns="0" bIns="0" rIns="0">
            <a:spAutoFit/>
          </a:bodyPr>
          <a:lstStyle/>
          <a:p>
            <a:pPr algn="l">
              <a:lnSpc>
                <a:spcPts val="7680"/>
              </a:lnSpc>
            </a:pPr>
            <a:r>
              <a:rPr lang="en-US" sz="8000" spc="-656">
                <a:solidFill>
                  <a:srgbClr val="000000"/>
                </a:solidFill>
                <a:latin typeface="DM Sans"/>
                <a:ea typeface="DM Sans"/>
                <a:cs typeface="DM Sans"/>
                <a:sym typeface="DM Sans"/>
              </a:rPr>
              <a:t>03.</a:t>
            </a:r>
          </a:p>
        </p:txBody>
      </p:sp>
      <p:sp>
        <p:nvSpPr>
          <p:cNvPr name="TextBox 16" id="16"/>
          <p:cNvSpPr txBox="true"/>
          <p:nvPr/>
        </p:nvSpPr>
        <p:spPr>
          <a:xfrm rot="0">
            <a:off x="11799688" y="1731910"/>
            <a:ext cx="4970568" cy="1415718"/>
          </a:xfrm>
          <a:prstGeom prst="rect">
            <a:avLst/>
          </a:prstGeom>
        </p:spPr>
        <p:txBody>
          <a:bodyPr anchor="t" rtlCol="false" tIns="0" lIns="0" bIns="0" rIns="0">
            <a:spAutoFit/>
          </a:bodyPr>
          <a:lstStyle/>
          <a:p>
            <a:pPr algn="l" marL="0" indent="0" lvl="0">
              <a:lnSpc>
                <a:spcPts val="2273"/>
              </a:lnSpc>
              <a:spcBef>
                <a:spcPct val="0"/>
              </a:spcBef>
            </a:pPr>
            <a:r>
              <a:rPr lang="en-US" b="true" sz="1684" spc="26">
                <a:solidFill>
                  <a:srgbClr val="000000"/>
                </a:solidFill>
                <a:latin typeface="DM Sans Bold"/>
                <a:ea typeface="DM Sans Bold"/>
                <a:cs typeface="DM Sans Bold"/>
                <a:sym typeface="DM Sans Bold"/>
              </a:rPr>
              <a:t>Vision:</a:t>
            </a:r>
            <a:r>
              <a:rPr lang="en-US" sz="1684" spc="26">
                <a:solidFill>
                  <a:srgbClr val="000000"/>
                </a:solidFill>
                <a:latin typeface="DM Sans"/>
                <a:ea typeface="DM Sans"/>
                <a:cs typeface="DM Sans"/>
                <a:sym typeface="DM Sans"/>
              </a:rPr>
              <a:t> Develop an inclusive, real-time multilingual transcription and translation system that enhances accessibility for diverse audiences, bridging language barriers in media, education, and corporate environments.</a:t>
            </a:r>
          </a:p>
        </p:txBody>
      </p:sp>
      <p:sp>
        <p:nvSpPr>
          <p:cNvPr name="TextBox 17" id="17"/>
          <p:cNvSpPr txBox="true"/>
          <p:nvPr/>
        </p:nvSpPr>
        <p:spPr>
          <a:xfrm rot="0">
            <a:off x="11797706" y="4139978"/>
            <a:ext cx="4970568" cy="1987218"/>
          </a:xfrm>
          <a:prstGeom prst="rect">
            <a:avLst/>
          </a:prstGeom>
        </p:spPr>
        <p:txBody>
          <a:bodyPr anchor="t" rtlCol="false" tIns="0" lIns="0" bIns="0" rIns="0">
            <a:spAutoFit/>
          </a:bodyPr>
          <a:lstStyle/>
          <a:p>
            <a:pPr algn="l" marL="0" indent="0" lvl="0">
              <a:lnSpc>
                <a:spcPts val="2273"/>
              </a:lnSpc>
              <a:spcBef>
                <a:spcPct val="0"/>
              </a:spcBef>
            </a:pPr>
            <a:r>
              <a:rPr lang="en-US" b="true" sz="1684" spc="26">
                <a:solidFill>
                  <a:srgbClr val="000000"/>
                </a:solidFill>
                <a:latin typeface="DM Sans Bold"/>
                <a:ea typeface="DM Sans Bold"/>
                <a:cs typeface="DM Sans Bold"/>
                <a:sym typeface="DM Sans Bold"/>
              </a:rPr>
              <a:t>Mission:</a:t>
            </a:r>
            <a:r>
              <a:rPr lang="en-US" sz="1684" spc="26">
                <a:solidFill>
                  <a:srgbClr val="000000"/>
                </a:solidFill>
                <a:latin typeface="DM Sans"/>
                <a:ea typeface="DM Sans"/>
                <a:cs typeface="DM Sans"/>
                <a:sym typeface="DM Sans"/>
              </a:rPr>
              <a:t> Leverage cutting-edge NLP and machine learning tools, such as Whisper, M2M100, and GTTS on Google Colab, to deliver accurate, context-aware captions, translations, and synthesized speech through a user-friendly interface for seamless audio and video processing.</a:t>
            </a:r>
          </a:p>
        </p:txBody>
      </p:sp>
      <p:sp>
        <p:nvSpPr>
          <p:cNvPr name="TextBox 18" id="18"/>
          <p:cNvSpPr txBox="true"/>
          <p:nvPr/>
        </p:nvSpPr>
        <p:spPr>
          <a:xfrm rot="0">
            <a:off x="11797706" y="6977724"/>
            <a:ext cx="4968586" cy="1701481"/>
          </a:xfrm>
          <a:prstGeom prst="rect">
            <a:avLst/>
          </a:prstGeom>
        </p:spPr>
        <p:txBody>
          <a:bodyPr anchor="t" rtlCol="false" tIns="0" lIns="0" bIns="0" rIns="0">
            <a:spAutoFit/>
          </a:bodyPr>
          <a:lstStyle/>
          <a:p>
            <a:pPr algn="l">
              <a:lnSpc>
                <a:spcPts val="2272"/>
              </a:lnSpc>
              <a:spcBef>
                <a:spcPct val="0"/>
              </a:spcBef>
            </a:pPr>
            <a:r>
              <a:rPr lang="en-US" b="true" sz="1683" spc="26">
                <a:solidFill>
                  <a:srgbClr val="000000"/>
                </a:solidFill>
                <a:latin typeface="DM Sans Bold"/>
                <a:ea typeface="DM Sans Bold"/>
                <a:cs typeface="DM Sans Bold"/>
                <a:sym typeface="DM Sans Bold"/>
              </a:rPr>
              <a:t>Impact: </a:t>
            </a:r>
            <a:r>
              <a:rPr lang="en-US" sz="1683" spc="26">
                <a:solidFill>
                  <a:srgbClr val="000000"/>
                </a:solidFill>
                <a:latin typeface="DM Sans"/>
                <a:ea typeface="DM Sans"/>
                <a:cs typeface="DM Sans"/>
                <a:sym typeface="DM Sans"/>
              </a:rPr>
              <a:t>Promote an equitable information landscape by integrating functionalities like topic extraction, bias detection, and summarization, empowering users with transparent, reliable, and actionable insights across languages.</a:t>
            </a:r>
          </a:p>
        </p:txBody>
      </p:sp>
      <p:sp>
        <p:nvSpPr>
          <p:cNvPr name="Freeform 19" id="19"/>
          <p:cNvSpPr/>
          <p:nvPr/>
        </p:nvSpPr>
        <p:spPr>
          <a:xfrm flipH="false" flipV="false" rot="-1438205">
            <a:off x="-165503" y="8783229"/>
            <a:ext cx="3870946" cy="950141"/>
          </a:xfrm>
          <a:custGeom>
            <a:avLst/>
            <a:gdLst/>
            <a:ahLst/>
            <a:cxnLst/>
            <a:rect r="r" b="b" t="t" l="l"/>
            <a:pathLst>
              <a:path h="950141" w="3870946">
                <a:moveTo>
                  <a:pt x="0" y="0"/>
                </a:moveTo>
                <a:lnTo>
                  <a:pt x="3870946" y="0"/>
                </a:lnTo>
                <a:lnTo>
                  <a:pt x="3870946" y="950142"/>
                </a:lnTo>
                <a:lnTo>
                  <a:pt x="0" y="95014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0" id="20"/>
          <p:cNvSpPr/>
          <p:nvPr/>
        </p:nvSpPr>
        <p:spPr>
          <a:xfrm flipH="false" flipV="false" rot="0">
            <a:off x="4573050" y="-315612"/>
            <a:ext cx="4980952" cy="3731186"/>
          </a:xfrm>
          <a:custGeom>
            <a:avLst/>
            <a:gdLst/>
            <a:ahLst/>
            <a:cxnLst/>
            <a:rect r="r" b="b" t="t" l="l"/>
            <a:pathLst>
              <a:path h="3731186" w="4980952">
                <a:moveTo>
                  <a:pt x="0" y="0"/>
                </a:moveTo>
                <a:lnTo>
                  <a:pt x="4980951" y="0"/>
                </a:lnTo>
                <a:lnTo>
                  <a:pt x="4980951" y="3731186"/>
                </a:lnTo>
                <a:lnTo>
                  <a:pt x="0" y="373118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21" id="21"/>
          <p:cNvSpPr/>
          <p:nvPr/>
        </p:nvSpPr>
        <p:spPr>
          <a:xfrm flipH="false" flipV="false" rot="0">
            <a:off x="5997662" y="80650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2" id="22"/>
          <p:cNvSpPr/>
          <p:nvPr/>
        </p:nvSpPr>
        <p:spPr>
          <a:xfrm flipH="false" flipV="false" rot="0">
            <a:off x="-269963" y="-446595"/>
            <a:ext cx="2597326" cy="2796583"/>
          </a:xfrm>
          <a:custGeom>
            <a:avLst/>
            <a:gdLst/>
            <a:ahLst/>
            <a:cxnLst/>
            <a:rect r="r" b="b" t="t" l="l"/>
            <a:pathLst>
              <a:path h="2796583" w="2597326">
                <a:moveTo>
                  <a:pt x="0" y="0"/>
                </a:moveTo>
                <a:lnTo>
                  <a:pt x="2597326" y="0"/>
                </a:lnTo>
                <a:lnTo>
                  <a:pt x="2597326" y="2796583"/>
                </a:lnTo>
                <a:lnTo>
                  <a:pt x="0" y="2796583"/>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874342" y="8065414"/>
            <a:ext cx="3296956" cy="809253"/>
          </a:xfrm>
          <a:custGeom>
            <a:avLst/>
            <a:gdLst/>
            <a:ahLst/>
            <a:cxnLst/>
            <a:rect r="r" b="b" t="t" l="l"/>
            <a:pathLst>
              <a:path h="809253" w="3296956">
                <a:moveTo>
                  <a:pt x="0" y="0"/>
                </a:moveTo>
                <a:lnTo>
                  <a:pt x="3296956" y="0"/>
                </a:lnTo>
                <a:lnTo>
                  <a:pt x="3296956" y="809252"/>
                </a:lnTo>
                <a:lnTo>
                  <a:pt x="0" y="809252"/>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524293" y="-717290"/>
            <a:ext cx="4899948" cy="3068592"/>
          </a:xfrm>
          <a:custGeom>
            <a:avLst/>
            <a:gdLst/>
            <a:ahLst/>
            <a:cxnLst/>
            <a:rect r="r" b="b" t="t" l="l"/>
            <a:pathLst>
              <a:path h="3068592" w="4899948">
                <a:moveTo>
                  <a:pt x="0" y="0"/>
                </a:moveTo>
                <a:lnTo>
                  <a:pt x="4899947" y="0"/>
                </a:lnTo>
                <a:lnTo>
                  <a:pt x="4899947"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1681302" y="-2102294"/>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327473" y="3775653"/>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3864059" y="-1459650"/>
            <a:ext cx="2892762" cy="2919301"/>
          </a:xfrm>
          <a:custGeom>
            <a:avLst/>
            <a:gdLst/>
            <a:ahLst/>
            <a:cxnLst/>
            <a:rect r="r" b="b" t="t" l="l"/>
            <a:pathLst>
              <a:path h="2919301" w="2892762">
                <a:moveTo>
                  <a:pt x="0" y="0"/>
                </a:moveTo>
                <a:lnTo>
                  <a:pt x="2892762" y="0"/>
                </a:lnTo>
                <a:lnTo>
                  <a:pt x="2892762"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4947745" y="2351302"/>
            <a:ext cx="3575541" cy="3575541"/>
          </a:xfrm>
          <a:custGeom>
            <a:avLst/>
            <a:gdLst/>
            <a:ahLst/>
            <a:cxnLst/>
            <a:rect r="r" b="b" t="t" l="l"/>
            <a:pathLst>
              <a:path h="3575541" w="3575541">
                <a:moveTo>
                  <a:pt x="0" y="0"/>
                </a:moveTo>
                <a:lnTo>
                  <a:pt x="3575542" y="0"/>
                </a:lnTo>
                <a:lnTo>
                  <a:pt x="3575542" y="3575542"/>
                </a:lnTo>
                <a:lnTo>
                  <a:pt x="0" y="3575542"/>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49682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037079" y="6834256"/>
            <a:ext cx="3382987" cy="1154444"/>
          </a:xfrm>
          <a:custGeom>
            <a:avLst/>
            <a:gdLst/>
            <a:ahLst/>
            <a:cxnLst/>
            <a:rect r="r" b="b" t="t" l="l"/>
            <a:pathLst>
              <a:path h="1154444" w="3382987">
                <a:moveTo>
                  <a:pt x="0" y="0"/>
                </a:moveTo>
                <a:lnTo>
                  <a:pt x="3382987" y="0"/>
                </a:lnTo>
                <a:lnTo>
                  <a:pt x="3382987" y="1154444"/>
                </a:lnTo>
                <a:lnTo>
                  <a:pt x="0" y="115444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5418765" y="-548157"/>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Freeform 16" id="16"/>
          <p:cNvSpPr/>
          <p:nvPr/>
        </p:nvSpPr>
        <p:spPr>
          <a:xfrm flipH="false" flipV="false" rot="0">
            <a:off x="5203946" y="108457"/>
            <a:ext cx="7690094" cy="10068863"/>
          </a:xfrm>
          <a:custGeom>
            <a:avLst/>
            <a:gdLst/>
            <a:ahLst/>
            <a:cxnLst/>
            <a:rect r="r" b="b" t="t" l="l"/>
            <a:pathLst>
              <a:path h="10068863" w="7690094">
                <a:moveTo>
                  <a:pt x="0" y="0"/>
                </a:moveTo>
                <a:lnTo>
                  <a:pt x="7690094" y="0"/>
                </a:lnTo>
                <a:lnTo>
                  <a:pt x="7690094" y="10068863"/>
                </a:lnTo>
                <a:lnTo>
                  <a:pt x="0" y="10068863"/>
                </a:lnTo>
                <a:lnTo>
                  <a:pt x="0" y="0"/>
                </a:lnTo>
                <a:close/>
              </a:path>
            </a:pathLst>
          </a:custGeom>
          <a:blipFill>
            <a:blip r:embed="rId29"/>
            <a:stretch>
              <a:fillRect l="0" t="0" r="0" b="0"/>
            </a:stretch>
          </a:blipFill>
        </p:spPr>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AutoShape 3" id="3"/>
          <p:cNvSpPr/>
          <p:nvPr/>
        </p:nvSpPr>
        <p:spPr>
          <a:xfrm>
            <a:off x="-886757" y="5074942"/>
            <a:ext cx="20061513" cy="0"/>
          </a:xfrm>
          <a:prstGeom prst="line">
            <a:avLst/>
          </a:prstGeom>
          <a:ln cap="flat" w="28575">
            <a:solidFill>
              <a:srgbClr val="000000"/>
            </a:solidFill>
            <a:prstDash val="solid"/>
            <a:headEnd type="none" len="sm" w="sm"/>
            <a:tailEnd type="none" len="sm" w="sm"/>
          </a:ln>
        </p:spPr>
      </p:sp>
      <p:sp>
        <p:nvSpPr>
          <p:cNvPr name="TextBox 4" id="4"/>
          <p:cNvSpPr txBox="true"/>
          <p:nvPr/>
        </p:nvSpPr>
        <p:spPr>
          <a:xfrm rot="0">
            <a:off x="4573142" y="1661535"/>
            <a:ext cx="8822997" cy="2282190"/>
          </a:xfrm>
          <a:prstGeom prst="rect">
            <a:avLst/>
          </a:prstGeom>
        </p:spPr>
        <p:txBody>
          <a:bodyPr anchor="t" rtlCol="false" tIns="0" lIns="0" bIns="0" rIns="0">
            <a:spAutoFit/>
          </a:bodyPr>
          <a:lstStyle/>
          <a:p>
            <a:pPr algn="ctr" marL="0" indent="0" lvl="1">
              <a:lnSpc>
                <a:spcPts val="8730"/>
              </a:lnSpc>
              <a:spcBef>
                <a:spcPct val="0"/>
              </a:spcBef>
            </a:pPr>
            <a:r>
              <a:rPr lang="en-US" b="true" sz="9000">
                <a:solidFill>
                  <a:srgbClr val="000000"/>
                </a:solidFill>
                <a:latin typeface="DM Sans Bold"/>
                <a:ea typeface="DM Sans Bold"/>
                <a:cs typeface="DM Sans Bold"/>
                <a:sym typeface="DM Sans Bold"/>
              </a:rPr>
              <a:t>Ideation process</a:t>
            </a:r>
          </a:p>
        </p:txBody>
      </p:sp>
      <p:grpSp>
        <p:nvGrpSpPr>
          <p:cNvPr name="Group 5" id="5"/>
          <p:cNvGrpSpPr/>
          <p:nvPr/>
        </p:nvGrpSpPr>
        <p:grpSpPr>
          <a:xfrm rot="0">
            <a:off x="4206015" y="4823914"/>
            <a:ext cx="2646492" cy="2120041"/>
            <a:chOff x="0" y="0"/>
            <a:chExt cx="3528656" cy="2826721"/>
          </a:xfrm>
        </p:grpSpPr>
        <p:grpSp>
          <p:nvGrpSpPr>
            <p:cNvPr name="Group 6" id="6"/>
            <p:cNvGrpSpPr/>
            <p:nvPr/>
          </p:nvGrpSpPr>
          <p:grpSpPr>
            <a:xfrm rot="0">
              <a:off x="0" y="0"/>
              <a:ext cx="669408" cy="669408"/>
              <a:chOff x="0" y="0"/>
              <a:chExt cx="812800" cy="812800"/>
            </a:xfrm>
          </p:grpSpPr>
          <p:sp>
            <p:nvSpPr>
              <p:cNvPr name="Freeform 7" id="7"/>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p:spPr>
          </p:sp>
          <p:sp>
            <p:nvSpPr>
              <p:cNvPr name="TextBox 8" id="8"/>
              <p:cNvSpPr txBox="true"/>
              <p:nvPr/>
            </p:nvSpPr>
            <p:spPr>
              <a:xfrm>
                <a:off x="190500" y="219075"/>
                <a:ext cx="431800" cy="403225"/>
              </a:xfrm>
              <a:prstGeom prst="rect">
                <a:avLst/>
              </a:prstGeom>
            </p:spPr>
            <p:txBody>
              <a:bodyPr anchor="ctr" rtlCol="false" tIns="50800" lIns="50800" bIns="50800" rIns="50800"/>
              <a:lstStyle/>
              <a:p>
                <a:pPr algn="ctr">
                  <a:lnSpc>
                    <a:spcPts val="2266"/>
                  </a:lnSpc>
                </a:pPr>
              </a:p>
            </p:txBody>
          </p:sp>
        </p:grpSp>
        <p:sp>
          <p:nvSpPr>
            <p:cNvPr name="TextBox 9" id="9"/>
            <p:cNvSpPr txBox="true"/>
            <p:nvPr/>
          </p:nvSpPr>
          <p:spPr>
            <a:xfrm rot="0">
              <a:off x="0" y="1030769"/>
              <a:ext cx="2929765" cy="931334"/>
            </a:xfrm>
            <a:prstGeom prst="rect">
              <a:avLst/>
            </a:prstGeom>
          </p:spPr>
          <p:txBody>
            <a:bodyPr anchor="t" rtlCol="false" tIns="0" lIns="0" bIns="0" rIns="0">
              <a:spAutoFit/>
            </a:bodyPr>
            <a:lstStyle/>
            <a:p>
              <a:pPr algn="l">
                <a:lnSpc>
                  <a:spcPts val="5150"/>
                </a:lnSpc>
              </a:pPr>
              <a:r>
                <a:rPr lang="en-US" sz="5000" b="true">
                  <a:solidFill>
                    <a:srgbClr val="000000"/>
                  </a:solidFill>
                  <a:latin typeface="DM Sans Bold"/>
                  <a:ea typeface="DM Sans Bold"/>
                  <a:cs typeface="DM Sans Bold"/>
                  <a:sym typeface="DM Sans Bold"/>
                </a:rPr>
                <a:t>01</a:t>
              </a:r>
            </a:p>
          </p:txBody>
        </p:sp>
        <p:sp>
          <p:nvSpPr>
            <p:cNvPr name="TextBox 10" id="10"/>
            <p:cNvSpPr txBox="true"/>
            <p:nvPr/>
          </p:nvSpPr>
          <p:spPr>
            <a:xfrm rot="0">
              <a:off x="0" y="2136728"/>
              <a:ext cx="3528656" cy="689993"/>
            </a:xfrm>
            <a:prstGeom prst="rect">
              <a:avLst/>
            </a:prstGeom>
          </p:spPr>
          <p:txBody>
            <a:bodyPr anchor="t" rtlCol="false" tIns="0" lIns="0" bIns="0" rIns="0">
              <a:spAutoFit/>
            </a:bodyPr>
            <a:lstStyle/>
            <a:p>
              <a:pPr algn="l">
                <a:lnSpc>
                  <a:spcPts val="4523"/>
                </a:lnSpc>
              </a:pPr>
              <a:r>
                <a:rPr lang="en-US" sz="2899">
                  <a:solidFill>
                    <a:srgbClr val="000000"/>
                  </a:solidFill>
                  <a:latin typeface="DM Sans"/>
                  <a:ea typeface="DM Sans"/>
                  <a:cs typeface="DM Sans"/>
                  <a:sym typeface="DM Sans"/>
                </a:rPr>
                <a:t>Speech to Text</a:t>
              </a:r>
            </a:p>
          </p:txBody>
        </p:sp>
      </p:grpSp>
      <p:grpSp>
        <p:nvGrpSpPr>
          <p:cNvPr name="Group 11" id="11"/>
          <p:cNvGrpSpPr/>
          <p:nvPr/>
        </p:nvGrpSpPr>
        <p:grpSpPr>
          <a:xfrm rot="0">
            <a:off x="8747982" y="4823914"/>
            <a:ext cx="2751164" cy="2120041"/>
            <a:chOff x="0" y="0"/>
            <a:chExt cx="3668219" cy="2826721"/>
          </a:xfrm>
        </p:grpSpPr>
        <p:grpSp>
          <p:nvGrpSpPr>
            <p:cNvPr name="Group 12" id="12"/>
            <p:cNvGrpSpPr/>
            <p:nvPr/>
          </p:nvGrpSpPr>
          <p:grpSpPr>
            <a:xfrm rot="0">
              <a:off x="0" y="0"/>
              <a:ext cx="669408" cy="669408"/>
              <a:chOff x="0" y="0"/>
              <a:chExt cx="812800" cy="812800"/>
            </a:xfrm>
          </p:grpSpPr>
          <p:sp>
            <p:nvSpPr>
              <p:cNvPr name="Freeform 13" id="13"/>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14" id="14"/>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15" id="15"/>
            <p:cNvSpPr txBox="true"/>
            <p:nvPr/>
          </p:nvSpPr>
          <p:spPr>
            <a:xfrm rot="0">
              <a:off x="24403" y="1030769"/>
              <a:ext cx="2929765" cy="931334"/>
            </a:xfrm>
            <a:prstGeom prst="rect">
              <a:avLst/>
            </a:prstGeom>
          </p:spPr>
          <p:txBody>
            <a:bodyPr anchor="t" rtlCol="false" tIns="0" lIns="0" bIns="0" rIns="0">
              <a:spAutoFit/>
            </a:bodyPr>
            <a:lstStyle/>
            <a:p>
              <a:pPr algn="l">
                <a:lnSpc>
                  <a:spcPts val="5150"/>
                </a:lnSpc>
              </a:pPr>
              <a:r>
                <a:rPr lang="en-US" sz="5000" b="true">
                  <a:solidFill>
                    <a:srgbClr val="000000"/>
                  </a:solidFill>
                  <a:latin typeface="DM Sans Bold"/>
                  <a:ea typeface="DM Sans Bold"/>
                  <a:cs typeface="DM Sans Bold"/>
                  <a:sym typeface="DM Sans Bold"/>
                </a:rPr>
                <a:t>02</a:t>
              </a:r>
            </a:p>
          </p:txBody>
        </p:sp>
        <p:sp>
          <p:nvSpPr>
            <p:cNvPr name="TextBox 16" id="16"/>
            <p:cNvSpPr txBox="true"/>
            <p:nvPr/>
          </p:nvSpPr>
          <p:spPr>
            <a:xfrm rot="0">
              <a:off x="24403" y="2136728"/>
              <a:ext cx="3643816" cy="689993"/>
            </a:xfrm>
            <a:prstGeom prst="rect">
              <a:avLst/>
            </a:prstGeom>
          </p:spPr>
          <p:txBody>
            <a:bodyPr anchor="t" rtlCol="false" tIns="0" lIns="0" bIns="0" rIns="0">
              <a:spAutoFit/>
            </a:bodyPr>
            <a:lstStyle/>
            <a:p>
              <a:pPr algn="l">
                <a:lnSpc>
                  <a:spcPts val="4523"/>
                </a:lnSpc>
              </a:pPr>
              <a:r>
                <a:rPr lang="en-US" sz="2899">
                  <a:solidFill>
                    <a:srgbClr val="000000"/>
                  </a:solidFill>
                  <a:latin typeface="DM Sans"/>
                  <a:ea typeface="DM Sans"/>
                  <a:cs typeface="DM Sans"/>
                  <a:sym typeface="DM Sans"/>
                </a:rPr>
                <a:t>Text to Text</a:t>
              </a:r>
            </a:p>
          </p:txBody>
        </p:sp>
      </p:grpSp>
      <p:grpSp>
        <p:nvGrpSpPr>
          <p:cNvPr name="Group 17" id="17"/>
          <p:cNvGrpSpPr/>
          <p:nvPr/>
        </p:nvGrpSpPr>
        <p:grpSpPr>
          <a:xfrm rot="0">
            <a:off x="13396139" y="4823914"/>
            <a:ext cx="2766294" cy="2120041"/>
            <a:chOff x="0" y="0"/>
            <a:chExt cx="3688392" cy="2826721"/>
          </a:xfrm>
        </p:grpSpPr>
        <p:grpSp>
          <p:nvGrpSpPr>
            <p:cNvPr name="Group 18" id="18"/>
            <p:cNvGrpSpPr/>
            <p:nvPr/>
          </p:nvGrpSpPr>
          <p:grpSpPr>
            <a:xfrm rot="0">
              <a:off x="0" y="0"/>
              <a:ext cx="669408" cy="669408"/>
              <a:chOff x="0" y="0"/>
              <a:chExt cx="812800" cy="812800"/>
            </a:xfrm>
          </p:grpSpPr>
          <p:sp>
            <p:nvSpPr>
              <p:cNvPr name="Freeform 19" id="19"/>
              <p:cNvSpPr/>
              <p:nvPr/>
            </p:nvSpPr>
            <p:spPr>
              <a:xfrm flipH="false" flipV="false" rot="0">
                <a:off x="0" y="0"/>
                <a:ext cx="812800" cy="812800"/>
              </a:xfrm>
              <a:custGeom>
                <a:avLst/>
                <a:gdLst/>
                <a:ahLst/>
                <a:cxnLst/>
                <a:rect r="r" b="b" t="t" l="l"/>
                <a:pathLst>
                  <a:path h="812800" w="812800">
                    <a:moveTo>
                      <a:pt x="406400" y="0"/>
                    </a:moveTo>
                    <a:lnTo>
                      <a:pt x="535715" y="277085"/>
                    </a:lnTo>
                    <a:lnTo>
                      <a:pt x="812800" y="406400"/>
                    </a:lnTo>
                    <a:lnTo>
                      <a:pt x="535715" y="535715"/>
                    </a:lnTo>
                    <a:lnTo>
                      <a:pt x="406400" y="812800"/>
                    </a:lnTo>
                    <a:lnTo>
                      <a:pt x="277085" y="535715"/>
                    </a:lnTo>
                    <a:lnTo>
                      <a:pt x="0" y="406400"/>
                    </a:lnTo>
                    <a:lnTo>
                      <a:pt x="277085" y="277085"/>
                    </a:lnTo>
                    <a:lnTo>
                      <a:pt x="406400" y="0"/>
                    </a:lnTo>
                    <a:close/>
                  </a:path>
                </a:pathLst>
              </a:custGeom>
              <a:solidFill>
                <a:srgbClr val="000000"/>
              </a:solidFill>
              <a:ln cap="sq">
                <a:noFill/>
                <a:prstDash val="solid"/>
                <a:miter/>
              </a:ln>
            </p:spPr>
          </p:sp>
          <p:sp>
            <p:nvSpPr>
              <p:cNvPr name="TextBox 20" id="20"/>
              <p:cNvSpPr txBox="true"/>
              <p:nvPr/>
            </p:nvSpPr>
            <p:spPr>
              <a:xfrm>
                <a:off x="190500" y="219075"/>
                <a:ext cx="431800" cy="403225"/>
              </a:xfrm>
              <a:prstGeom prst="rect">
                <a:avLst/>
              </a:prstGeom>
            </p:spPr>
            <p:txBody>
              <a:bodyPr anchor="ctr" rtlCol="false" tIns="50800" lIns="50800" bIns="50800" rIns="50800"/>
              <a:lstStyle/>
              <a:p>
                <a:pPr algn="ctr" marL="0" indent="0" lvl="0">
                  <a:lnSpc>
                    <a:spcPts val="2266"/>
                  </a:lnSpc>
                  <a:spcBef>
                    <a:spcPct val="0"/>
                  </a:spcBef>
                </a:pPr>
              </a:p>
            </p:txBody>
          </p:sp>
        </p:grpSp>
        <p:sp>
          <p:nvSpPr>
            <p:cNvPr name="TextBox 21" id="21"/>
            <p:cNvSpPr txBox="true"/>
            <p:nvPr/>
          </p:nvSpPr>
          <p:spPr>
            <a:xfrm rot="0">
              <a:off x="24403" y="1030769"/>
              <a:ext cx="2929765" cy="931334"/>
            </a:xfrm>
            <a:prstGeom prst="rect">
              <a:avLst/>
            </a:prstGeom>
          </p:spPr>
          <p:txBody>
            <a:bodyPr anchor="t" rtlCol="false" tIns="0" lIns="0" bIns="0" rIns="0">
              <a:spAutoFit/>
            </a:bodyPr>
            <a:lstStyle/>
            <a:p>
              <a:pPr algn="l">
                <a:lnSpc>
                  <a:spcPts val="5150"/>
                </a:lnSpc>
              </a:pPr>
              <a:r>
                <a:rPr lang="en-US" sz="5000" b="true">
                  <a:solidFill>
                    <a:srgbClr val="000000"/>
                  </a:solidFill>
                  <a:latin typeface="DM Sans Bold"/>
                  <a:ea typeface="DM Sans Bold"/>
                  <a:cs typeface="DM Sans Bold"/>
                  <a:sym typeface="DM Sans Bold"/>
                </a:rPr>
                <a:t>03</a:t>
              </a:r>
            </a:p>
          </p:txBody>
        </p:sp>
        <p:sp>
          <p:nvSpPr>
            <p:cNvPr name="TextBox 22" id="22"/>
            <p:cNvSpPr txBox="true"/>
            <p:nvPr/>
          </p:nvSpPr>
          <p:spPr>
            <a:xfrm rot="0">
              <a:off x="24403" y="2136728"/>
              <a:ext cx="3663988" cy="689993"/>
            </a:xfrm>
            <a:prstGeom prst="rect">
              <a:avLst/>
            </a:prstGeom>
          </p:spPr>
          <p:txBody>
            <a:bodyPr anchor="t" rtlCol="false" tIns="0" lIns="0" bIns="0" rIns="0">
              <a:spAutoFit/>
            </a:bodyPr>
            <a:lstStyle/>
            <a:p>
              <a:pPr algn="l">
                <a:lnSpc>
                  <a:spcPts val="4523"/>
                </a:lnSpc>
              </a:pPr>
              <a:r>
                <a:rPr lang="en-US" sz="2899">
                  <a:solidFill>
                    <a:srgbClr val="000000"/>
                  </a:solidFill>
                  <a:latin typeface="DM Sans"/>
                  <a:ea typeface="DM Sans"/>
                  <a:cs typeface="DM Sans"/>
                  <a:sym typeface="DM Sans"/>
                </a:rPr>
                <a:t>Text to Speech</a:t>
              </a:r>
            </a:p>
          </p:txBody>
        </p:sp>
      </p:grpSp>
      <p:sp>
        <p:nvSpPr>
          <p:cNvPr name="Freeform 23" id="23"/>
          <p:cNvSpPr/>
          <p:nvPr/>
        </p:nvSpPr>
        <p:spPr>
          <a:xfrm flipH="false" flipV="false" rot="0">
            <a:off x="-1573240" y="8893298"/>
            <a:ext cx="4051334" cy="2765036"/>
          </a:xfrm>
          <a:custGeom>
            <a:avLst/>
            <a:gdLst/>
            <a:ahLst/>
            <a:cxnLst/>
            <a:rect r="r" b="b" t="t" l="l"/>
            <a:pathLst>
              <a:path h="2765036" w="4051334">
                <a:moveTo>
                  <a:pt x="0" y="0"/>
                </a:moveTo>
                <a:lnTo>
                  <a:pt x="4051334" y="0"/>
                </a:lnTo>
                <a:lnTo>
                  <a:pt x="4051334" y="2765036"/>
                </a:lnTo>
                <a:lnTo>
                  <a:pt x="0" y="276503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24" id="24"/>
          <p:cNvSpPr/>
          <p:nvPr/>
        </p:nvSpPr>
        <p:spPr>
          <a:xfrm flipH="false" flipV="false" rot="0">
            <a:off x="15262955" y="8864586"/>
            <a:ext cx="4602314" cy="3618569"/>
          </a:xfrm>
          <a:custGeom>
            <a:avLst/>
            <a:gdLst/>
            <a:ahLst/>
            <a:cxnLst/>
            <a:rect r="r" b="b" t="t" l="l"/>
            <a:pathLst>
              <a:path h="3618569" w="4602314">
                <a:moveTo>
                  <a:pt x="0" y="0"/>
                </a:moveTo>
                <a:lnTo>
                  <a:pt x="4602314" y="0"/>
                </a:lnTo>
                <a:lnTo>
                  <a:pt x="4602314" y="3618569"/>
                </a:lnTo>
                <a:lnTo>
                  <a:pt x="0" y="361856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25" id="25"/>
          <p:cNvSpPr/>
          <p:nvPr/>
        </p:nvSpPr>
        <p:spPr>
          <a:xfrm flipH="false" flipV="false" rot="0">
            <a:off x="-674156" y="-1322787"/>
            <a:ext cx="4224468" cy="2645573"/>
          </a:xfrm>
          <a:custGeom>
            <a:avLst/>
            <a:gdLst/>
            <a:ahLst/>
            <a:cxnLst/>
            <a:rect r="r" b="b" t="t" l="l"/>
            <a:pathLst>
              <a:path h="2645573" w="4224468">
                <a:moveTo>
                  <a:pt x="0" y="0"/>
                </a:moveTo>
                <a:lnTo>
                  <a:pt x="4224468" y="0"/>
                </a:lnTo>
                <a:lnTo>
                  <a:pt x="4224468" y="2645574"/>
                </a:lnTo>
                <a:lnTo>
                  <a:pt x="0" y="2645574"/>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26" id="26"/>
          <p:cNvSpPr/>
          <p:nvPr/>
        </p:nvSpPr>
        <p:spPr>
          <a:xfrm flipH="false" flipV="false" rot="0">
            <a:off x="11101574" y="9560661"/>
            <a:ext cx="3169280" cy="2226419"/>
          </a:xfrm>
          <a:custGeom>
            <a:avLst/>
            <a:gdLst/>
            <a:ahLst/>
            <a:cxnLst/>
            <a:rect r="r" b="b" t="t" l="l"/>
            <a:pathLst>
              <a:path h="2226419" w="3169280">
                <a:moveTo>
                  <a:pt x="0" y="0"/>
                </a:moveTo>
                <a:lnTo>
                  <a:pt x="3169280" y="0"/>
                </a:lnTo>
                <a:lnTo>
                  <a:pt x="3169280" y="2226419"/>
                </a:lnTo>
                <a:lnTo>
                  <a:pt x="0" y="222641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27" id="27"/>
          <p:cNvSpPr/>
          <p:nvPr/>
        </p:nvSpPr>
        <p:spPr>
          <a:xfrm flipH="false" flipV="false" rot="0">
            <a:off x="9653627" y="-3037933"/>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28" id="28"/>
          <p:cNvSpPr/>
          <p:nvPr/>
        </p:nvSpPr>
        <p:spPr>
          <a:xfrm flipH="false" flipV="false" rot="-5400000">
            <a:off x="4745771" y="-1877331"/>
            <a:ext cx="2892762" cy="2919301"/>
          </a:xfrm>
          <a:custGeom>
            <a:avLst/>
            <a:gdLst/>
            <a:ahLst/>
            <a:cxnLst/>
            <a:rect r="r" b="b" t="t" l="l"/>
            <a:pathLst>
              <a:path h="2919301" w="2892762">
                <a:moveTo>
                  <a:pt x="0" y="0"/>
                </a:moveTo>
                <a:lnTo>
                  <a:pt x="2892761" y="0"/>
                </a:lnTo>
                <a:lnTo>
                  <a:pt x="2892761" y="2919301"/>
                </a:lnTo>
                <a:lnTo>
                  <a:pt x="0" y="2919301"/>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29" id="29"/>
          <p:cNvSpPr/>
          <p:nvPr/>
        </p:nvSpPr>
        <p:spPr>
          <a:xfrm flipH="false" flipV="false" rot="0">
            <a:off x="2932282" y="9271808"/>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30" id="30"/>
          <p:cNvSpPr/>
          <p:nvPr/>
        </p:nvSpPr>
        <p:spPr>
          <a:xfrm flipH="false" flipV="false" rot="0">
            <a:off x="15262955" y="-1072630"/>
            <a:ext cx="1996345" cy="2149497"/>
          </a:xfrm>
          <a:custGeom>
            <a:avLst/>
            <a:gdLst/>
            <a:ahLst/>
            <a:cxnLst/>
            <a:rect r="r" b="b" t="t" l="l"/>
            <a:pathLst>
              <a:path h="2149497" w="1996345">
                <a:moveTo>
                  <a:pt x="0" y="0"/>
                </a:moveTo>
                <a:lnTo>
                  <a:pt x="1996345" y="0"/>
                </a:lnTo>
                <a:lnTo>
                  <a:pt x="1996345" y="2149497"/>
                </a:lnTo>
                <a:lnTo>
                  <a:pt x="0" y="2149497"/>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28700" y="1802790"/>
            <a:ext cx="5513037" cy="7650868"/>
            <a:chOff x="0" y="0"/>
            <a:chExt cx="7350716" cy="10201157"/>
          </a:xfrm>
        </p:grpSpPr>
        <p:sp>
          <p:nvSpPr>
            <p:cNvPr name="Freeform 4" id="4"/>
            <p:cNvSpPr/>
            <p:nvPr/>
          </p:nvSpPr>
          <p:spPr>
            <a:xfrm flipH="false" flipV="false" rot="-5282649">
              <a:off x="-1369405" y="3379053"/>
              <a:ext cx="10089526" cy="3443051"/>
            </a:xfrm>
            <a:custGeom>
              <a:avLst/>
              <a:gdLst/>
              <a:ahLst/>
              <a:cxnLst/>
              <a:rect r="r" b="b" t="t" l="l"/>
              <a:pathLst>
                <a:path h="3443051" w="10089526">
                  <a:moveTo>
                    <a:pt x="0" y="0"/>
                  </a:moveTo>
                  <a:lnTo>
                    <a:pt x="10089526" y="0"/>
                  </a:lnTo>
                  <a:lnTo>
                    <a:pt x="10089526" y="3443051"/>
                  </a:lnTo>
                  <a:lnTo>
                    <a:pt x="0" y="344305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0" y="959330"/>
              <a:ext cx="7350716" cy="8282497"/>
            </a:xfrm>
            <a:custGeom>
              <a:avLst/>
              <a:gdLst/>
              <a:ahLst/>
              <a:cxnLst/>
              <a:rect r="r" b="b" t="t" l="l"/>
              <a:pathLst>
                <a:path h="8282497" w="7350716">
                  <a:moveTo>
                    <a:pt x="0" y="0"/>
                  </a:moveTo>
                  <a:lnTo>
                    <a:pt x="7350716" y="0"/>
                  </a:lnTo>
                  <a:lnTo>
                    <a:pt x="7350716" y="8282497"/>
                  </a:lnTo>
                  <a:lnTo>
                    <a:pt x="0" y="8282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6" id="6"/>
          <p:cNvSpPr txBox="true"/>
          <p:nvPr/>
        </p:nvSpPr>
        <p:spPr>
          <a:xfrm rot="0">
            <a:off x="6978669" y="1309395"/>
            <a:ext cx="8750403"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Speech to Text</a:t>
            </a:r>
          </a:p>
        </p:txBody>
      </p:sp>
      <p:sp>
        <p:nvSpPr>
          <p:cNvPr name="TextBox 7" id="7"/>
          <p:cNvSpPr txBox="true"/>
          <p:nvPr/>
        </p:nvSpPr>
        <p:spPr>
          <a:xfrm rot="0">
            <a:off x="7737714" y="3831995"/>
            <a:ext cx="8756550" cy="5071110"/>
          </a:xfrm>
          <a:prstGeom prst="rect">
            <a:avLst/>
          </a:prstGeom>
        </p:spPr>
        <p:txBody>
          <a:bodyPr anchor="t" rtlCol="false" tIns="0" lIns="0" bIns="0" rIns="0">
            <a:spAutoFit/>
          </a:bodyPr>
          <a:lstStyle/>
          <a:p>
            <a:pPr algn="l" marL="0" indent="0" lvl="0">
              <a:lnSpc>
                <a:spcPts val="3105"/>
              </a:lnSpc>
              <a:spcBef>
                <a:spcPct val="0"/>
              </a:spcBef>
            </a:pPr>
            <a:r>
              <a:rPr lang="en-US" sz="2300" spc="138">
                <a:solidFill>
                  <a:srgbClr val="000000"/>
                </a:solidFill>
                <a:latin typeface="DM Sans"/>
                <a:ea typeface="DM Sans"/>
                <a:cs typeface="DM Sans"/>
                <a:sym typeface="DM Sans"/>
              </a:rPr>
              <a:t>In this project, we use the Whisper model by OpenAI to transcribe spoken language from audio and video sources into text. Whisper excels in capturing natural speech patterns and supports multiple languages, including regional Indian languages. By processing audio files directly on Google Colab, the model produces accurate, real-time transcriptions, allowing for an immediate written record of spoken content. This transcription is foundational to subsequent stages of translation and summarization, enabling seamless communication across language barriers and ensuring that spoken content can be easily understood in written form.</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5282649">
            <a:off x="-3126804" y="4360213"/>
            <a:ext cx="7567145" cy="2582288"/>
          </a:xfrm>
          <a:custGeom>
            <a:avLst/>
            <a:gdLst/>
            <a:ahLst/>
            <a:cxnLst/>
            <a:rect r="r" b="b" t="t" l="l"/>
            <a:pathLst>
              <a:path h="2582288" w="7567145">
                <a:moveTo>
                  <a:pt x="0" y="0"/>
                </a:moveTo>
                <a:lnTo>
                  <a:pt x="7567145" y="0"/>
                </a:lnTo>
                <a:lnTo>
                  <a:pt x="7567145" y="2582288"/>
                </a:lnTo>
                <a:lnTo>
                  <a:pt x="0" y="2582288"/>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3327625" y="3205514"/>
            <a:ext cx="13677063" cy="5898233"/>
          </a:xfrm>
          <a:custGeom>
            <a:avLst/>
            <a:gdLst/>
            <a:ahLst/>
            <a:cxnLst/>
            <a:rect r="r" b="b" t="t" l="l"/>
            <a:pathLst>
              <a:path h="5898233" w="13677063">
                <a:moveTo>
                  <a:pt x="0" y="0"/>
                </a:moveTo>
                <a:lnTo>
                  <a:pt x="13677063" y="0"/>
                </a:lnTo>
                <a:lnTo>
                  <a:pt x="13677063" y="5898233"/>
                </a:lnTo>
                <a:lnTo>
                  <a:pt x="0" y="5898233"/>
                </a:lnTo>
                <a:lnTo>
                  <a:pt x="0" y="0"/>
                </a:lnTo>
                <a:close/>
              </a:path>
            </a:pathLst>
          </a:custGeom>
          <a:blipFill>
            <a:blip r:embed="rId5"/>
            <a:stretch>
              <a:fillRect l="0" t="0" r="0" b="0"/>
            </a:stretch>
          </a:blipFill>
        </p:spPr>
      </p:sp>
      <p:sp>
        <p:nvSpPr>
          <p:cNvPr name="TextBox 5" id="5"/>
          <p:cNvSpPr txBox="true"/>
          <p:nvPr/>
        </p:nvSpPr>
        <p:spPr>
          <a:xfrm rot="0">
            <a:off x="6978669" y="1309395"/>
            <a:ext cx="8750403"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Speech to Text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523557" y="1267971"/>
            <a:ext cx="6735743" cy="7139492"/>
            <a:chOff x="0" y="0"/>
            <a:chExt cx="8980991" cy="9519322"/>
          </a:xfrm>
        </p:grpSpPr>
        <p:sp>
          <p:nvSpPr>
            <p:cNvPr name="Freeform 4" id="4"/>
            <p:cNvSpPr/>
            <p:nvPr/>
          </p:nvSpPr>
          <p:spPr>
            <a:xfrm flipH="false" flipV="false" rot="0">
              <a:off x="0" y="0"/>
              <a:ext cx="5611431" cy="5662912"/>
            </a:xfrm>
            <a:custGeom>
              <a:avLst/>
              <a:gdLst/>
              <a:ahLst/>
              <a:cxnLst/>
              <a:rect r="r" b="b" t="t" l="l"/>
              <a:pathLst>
                <a:path h="5662912" w="5611431">
                  <a:moveTo>
                    <a:pt x="0" y="0"/>
                  </a:moveTo>
                  <a:lnTo>
                    <a:pt x="5611431" y="0"/>
                  </a:lnTo>
                  <a:lnTo>
                    <a:pt x="5611431" y="5662912"/>
                  </a:lnTo>
                  <a:lnTo>
                    <a:pt x="0" y="56629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1038682" y="815423"/>
              <a:ext cx="7942308" cy="8703900"/>
            </a:xfrm>
            <a:custGeom>
              <a:avLst/>
              <a:gdLst/>
              <a:ahLst/>
              <a:cxnLst/>
              <a:rect r="r" b="b" t="t" l="l"/>
              <a:pathLst>
                <a:path h="8703900" w="7942308">
                  <a:moveTo>
                    <a:pt x="0" y="0"/>
                  </a:moveTo>
                  <a:lnTo>
                    <a:pt x="7942309" y="0"/>
                  </a:lnTo>
                  <a:lnTo>
                    <a:pt x="7942309" y="8703899"/>
                  </a:lnTo>
                  <a:lnTo>
                    <a:pt x="0" y="87038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6" id="6"/>
          <p:cNvSpPr txBox="true"/>
          <p:nvPr/>
        </p:nvSpPr>
        <p:spPr>
          <a:xfrm rot="0">
            <a:off x="1504950" y="1328491"/>
            <a:ext cx="8092094"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Text to Text</a:t>
            </a:r>
          </a:p>
        </p:txBody>
      </p:sp>
      <p:sp>
        <p:nvSpPr>
          <p:cNvPr name="TextBox 7" id="7"/>
          <p:cNvSpPr txBox="true"/>
          <p:nvPr/>
        </p:nvSpPr>
        <p:spPr>
          <a:xfrm rot="0">
            <a:off x="1504950" y="3199654"/>
            <a:ext cx="8092094" cy="5461635"/>
          </a:xfrm>
          <a:prstGeom prst="rect">
            <a:avLst/>
          </a:prstGeom>
        </p:spPr>
        <p:txBody>
          <a:bodyPr anchor="t" rtlCol="false" tIns="0" lIns="0" bIns="0" rIns="0">
            <a:spAutoFit/>
          </a:bodyPr>
          <a:lstStyle/>
          <a:p>
            <a:pPr algn="l" marL="0" indent="0" lvl="0">
              <a:lnSpc>
                <a:spcPts val="3104"/>
              </a:lnSpc>
              <a:spcBef>
                <a:spcPct val="0"/>
              </a:spcBef>
            </a:pPr>
            <a:r>
              <a:rPr lang="en-US" sz="2299" spc="137">
                <a:solidFill>
                  <a:srgbClr val="000000"/>
                </a:solidFill>
                <a:latin typeface="DM Sans"/>
                <a:ea typeface="DM Sans"/>
                <a:cs typeface="DM Sans"/>
                <a:sym typeface="DM Sans"/>
              </a:rPr>
              <a:t>For translation, the project leverages the M2M100 model by Facebook AI, a robust multilingual model that facilitates direct translation between numerous language pairs without always requiring English as an intermediary. This allows translations to be accurate and contextually relevant, supporting Indian languages and others effectively. M2M100 enables the transcribed text to be converted into the target language chosen by the user, making information accessible in a range of languages. This feature not only enables multilingual captioning but also enriches the media experience by ensuring users from different linguistic backgrounds can fully understand the content.</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1070011" y="926437"/>
            <a:ext cx="6735743" cy="7139492"/>
            <a:chOff x="0" y="0"/>
            <a:chExt cx="8980991" cy="9519322"/>
          </a:xfrm>
        </p:grpSpPr>
        <p:sp>
          <p:nvSpPr>
            <p:cNvPr name="Freeform 4" id="4"/>
            <p:cNvSpPr/>
            <p:nvPr/>
          </p:nvSpPr>
          <p:spPr>
            <a:xfrm flipH="false" flipV="false" rot="0">
              <a:off x="0" y="0"/>
              <a:ext cx="5611431" cy="5662912"/>
            </a:xfrm>
            <a:custGeom>
              <a:avLst/>
              <a:gdLst/>
              <a:ahLst/>
              <a:cxnLst/>
              <a:rect r="r" b="b" t="t" l="l"/>
              <a:pathLst>
                <a:path h="5662912" w="5611431">
                  <a:moveTo>
                    <a:pt x="0" y="0"/>
                  </a:moveTo>
                  <a:lnTo>
                    <a:pt x="5611431" y="0"/>
                  </a:lnTo>
                  <a:lnTo>
                    <a:pt x="5611431" y="5662912"/>
                  </a:lnTo>
                  <a:lnTo>
                    <a:pt x="0" y="56629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1038682" y="815423"/>
              <a:ext cx="7942308" cy="8703900"/>
            </a:xfrm>
            <a:custGeom>
              <a:avLst/>
              <a:gdLst/>
              <a:ahLst/>
              <a:cxnLst/>
              <a:rect r="r" b="b" t="t" l="l"/>
              <a:pathLst>
                <a:path h="8703900" w="7942308">
                  <a:moveTo>
                    <a:pt x="0" y="0"/>
                  </a:moveTo>
                  <a:lnTo>
                    <a:pt x="7942309" y="0"/>
                  </a:lnTo>
                  <a:lnTo>
                    <a:pt x="7942309" y="8703899"/>
                  </a:lnTo>
                  <a:lnTo>
                    <a:pt x="0" y="870389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Freeform 6" id="6"/>
          <p:cNvSpPr/>
          <p:nvPr/>
        </p:nvSpPr>
        <p:spPr>
          <a:xfrm flipH="false" flipV="false" rot="0">
            <a:off x="3377806" y="1779207"/>
            <a:ext cx="6367349" cy="8371885"/>
          </a:xfrm>
          <a:custGeom>
            <a:avLst/>
            <a:gdLst/>
            <a:ahLst/>
            <a:cxnLst/>
            <a:rect r="r" b="b" t="t" l="l"/>
            <a:pathLst>
              <a:path h="8371885" w="6367349">
                <a:moveTo>
                  <a:pt x="0" y="0"/>
                </a:moveTo>
                <a:lnTo>
                  <a:pt x="6367349" y="0"/>
                </a:lnTo>
                <a:lnTo>
                  <a:pt x="6367349" y="8371885"/>
                </a:lnTo>
                <a:lnTo>
                  <a:pt x="0" y="8371885"/>
                </a:lnTo>
                <a:lnTo>
                  <a:pt x="0" y="0"/>
                </a:lnTo>
                <a:close/>
              </a:path>
            </a:pathLst>
          </a:custGeom>
          <a:blipFill>
            <a:blip r:embed="rId7"/>
            <a:stretch>
              <a:fillRect l="0" t="0" r="0" b="0"/>
            </a:stretch>
          </a:blipFill>
        </p:spPr>
      </p:sp>
      <p:sp>
        <p:nvSpPr>
          <p:cNvPr name="TextBox 7" id="7"/>
          <p:cNvSpPr txBox="true"/>
          <p:nvPr/>
        </p:nvSpPr>
        <p:spPr>
          <a:xfrm rot="0">
            <a:off x="343735" y="535305"/>
            <a:ext cx="8092094"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Text to Text</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grpSp>
        <p:nvGrpSpPr>
          <p:cNvPr name="Group 3" id="3"/>
          <p:cNvGrpSpPr/>
          <p:nvPr/>
        </p:nvGrpSpPr>
        <p:grpSpPr>
          <a:xfrm rot="0">
            <a:off x="10775246" y="1991440"/>
            <a:ext cx="7181225" cy="5697497"/>
            <a:chOff x="0" y="0"/>
            <a:chExt cx="9574966" cy="7596662"/>
          </a:xfrm>
        </p:grpSpPr>
        <p:sp>
          <p:nvSpPr>
            <p:cNvPr name="Freeform 4" id="4"/>
            <p:cNvSpPr/>
            <p:nvPr/>
          </p:nvSpPr>
          <p:spPr>
            <a:xfrm flipH="false" flipV="false" rot="0">
              <a:off x="751723" y="0"/>
              <a:ext cx="5611431" cy="5662912"/>
            </a:xfrm>
            <a:custGeom>
              <a:avLst/>
              <a:gdLst/>
              <a:ahLst/>
              <a:cxnLst/>
              <a:rect r="r" b="b" t="t" l="l"/>
              <a:pathLst>
                <a:path h="5662912" w="5611431">
                  <a:moveTo>
                    <a:pt x="0" y="0"/>
                  </a:moveTo>
                  <a:lnTo>
                    <a:pt x="5611431" y="0"/>
                  </a:lnTo>
                  <a:lnTo>
                    <a:pt x="5611431" y="5662912"/>
                  </a:lnTo>
                  <a:lnTo>
                    <a:pt x="0" y="566291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5" id="5"/>
            <p:cNvSpPr/>
            <p:nvPr/>
          </p:nvSpPr>
          <p:spPr>
            <a:xfrm flipH="false" flipV="false" rot="0">
              <a:off x="0" y="918123"/>
              <a:ext cx="9574966" cy="6678539"/>
            </a:xfrm>
            <a:custGeom>
              <a:avLst/>
              <a:gdLst/>
              <a:ahLst/>
              <a:cxnLst/>
              <a:rect r="r" b="b" t="t" l="l"/>
              <a:pathLst>
                <a:path h="6678539" w="9574966">
                  <a:moveTo>
                    <a:pt x="0" y="0"/>
                  </a:moveTo>
                  <a:lnTo>
                    <a:pt x="9574966" y="0"/>
                  </a:lnTo>
                  <a:lnTo>
                    <a:pt x="9574966" y="6678539"/>
                  </a:lnTo>
                  <a:lnTo>
                    <a:pt x="0" y="667853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6" id="6"/>
          <p:cNvSpPr txBox="true"/>
          <p:nvPr/>
        </p:nvSpPr>
        <p:spPr>
          <a:xfrm rot="0">
            <a:off x="1028700" y="1643544"/>
            <a:ext cx="8751165"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Text to Speech</a:t>
            </a:r>
          </a:p>
        </p:txBody>
      </p:sp>
      <p:sp>
        <p:nvSpPr>
          <p:cNvPr name="TextBox 7" id="7"/>
          <p:cNvSpPr txBox="true"/>
          <p:nvPr/>
        </p:nvSpPr>
        <p:spPr>
          <a:xfrm rot="0">
            <a:off x="1028700" y="3900157"/>
            <a:ext cx="8855125" cy="4680585"/>
          </a:xfrm>
          <a:prstGeom prst="rect">
            <a:avLst/>
          </a:prstGeom>
        </p:spPr>
        <p:txBody>
          <a:bodyPr anchor="t" rtlCol="false" tIns="0" lIns="0" bIns="0" rIns="0">
            <a:spAutoFit/>
          </a:bodyPr>
          <a:lstStyle/>
          <a:p>
            <a:pPr algn="l" marL="0" indent="0" lvl="0">
              <a:lnSpc>
                <a:spcPts val="3104"/>
              </a:lnSpc>
              <a:spcBef>
                <a:spcPct val="0"/>
              </a:spcBef>
            </a:pPr>
            <a:r>
              <a:rPr lang="en-US" sz="2299" spc="137">
                <a:solidFill>
                  <a:srgbClr val="000000"/>
                </a:solidFill>
                <a:latin typeface="DM Sans"/>
                <a:ea typeface="DM Sans"/>
                <a:cs typeface="DM Sans"/>
                <a:sym typeface="DM Sans"/>
              </a:rPr>
              <a:t>Google Text-to-Speech (GTTS) is integrated to convert the translated and summarized text into spoken language. By using GTTS, the project provides audio renditions of the translated content in multiple Indian languages, catering to users who prefer auditory information or may have limited literacy in the target language. GTTS ensures that content can be delivered in a user’s preferred format, either as text or as synthesized speech, promoting accessibility for individuals across educational, linguistic, and accessibility needs. This feature enhances inclusivity and provides a comprehensive user experience by combining visual and auditory information outputs.</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15409542" y="473955"/>
            <a:ext cx="3699515" cy="3733456"/>
          </a:xfrm>
          <a:custGeom>
            <a:avLst/>
            <a:gdLst/>
            <a:ahLst/>
            <a:cxnLst/>
            <a:rect r="r" b="b" t="t" l="l"/>
            <a:pathLst>
              <a:path h="3733456" w="3699515">
                <a:moveTo>
                  <a:pt x="0" y="0"/>
                </a:moveTo>
                <a:lnTo>
                  <a:pt x="3699516" y="0"/>
                </a:lnTo>
                <a:lnTo>
                  <a:pt x="3699516" y="3733456"/>
                </a:lnTo>
                <a:lnTo>
                  <a:pt x="0" y="37334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a:ln cap="sq">
            <a:noFill/>
            <a:prstDash val="solid"/>
            <a:miter/>
          </a:ln>
        </p:spPr>
      </p:sp>
      <p:sp>
        <p:nvSpPr>
          <p:cNvPr name="Freeform 4" id="4"/>
          <p:cNvSpPr/>
          <p:nvPr/>
        </p:nvSpPr>
        <p:spPr>
          <a:xfrm flipH="false" flipV="false" rot="0">
            <a:off x="1410261" y="2340683"/>
            <a:ext cx="13733808" cy="7433424"/>
          </a:xfrm>
          <a:custGeom>
            <a:avLst/>
            <a:gdLst/>
            <a:ahLst/>
            <a:cxnLst/>
            <a:rect r="r" b="b" t="t" l="l"/>
            <a:pathLst>
              <a:path h="7433424" w="13733808">
                <a:moveTo>
                  <a:pt x="0" y="0"/>
                </a:moveTo>
                <a:lnTo>
                  <a:pt x="13733808" y="0"/>
                </a:lnTo>
                <a:lnTo>
                  <a:pt x="13733808" y="7433424"/>
                </a:lnTo>
                <a:lnTo>
                  <a:pt x="0" y="7433424"/>
                </a:lnTo>
                <a:lnTo>
                  <a:pt x="0" y="0"/>
                </a:lnTo>
                <a:close/>
              </a:path>
            </a:pathLst>
          </a:custGeom>
          <a:blipFill>
            <a:blip r:embed="rId5"/>
            <a:stretch>
              <a:fillRect l="0" t="0" r="0" b="0"/>
            </a:stretch>
          </a:blipFill>
        </p:spPr>
      </p:sp>
      <p:sp>
        <p:nvSpPr>
          <p:cNvPr name="TextBox 5" id="5"/>
          <p:cNvSpPr txBox="true"/>
          <p:nvPr/>
        </p:nvSpPr>
        <p:spPr>
          <a:xfrm rot="0">
            <a:off x="514580" y="664455"/>
            <a:ext cx="8751165" cy="1177290"/>
          </a:xfrm>
          <a:prstGeom prst="rect">
            <a:avLst/>
          </a:prstGeom>
        </p:spPr>
        <p:txBody>
          <a:bodyPr anchor="t" rtlCol="false" tIns="0" lIns="0" bIns="0" rIns="0">
            <a:spAutoFit/>
          </a:bodyPr>
          <a:lstStyle/>
          <a:p>
            <a:pPr algn="l">
              <a:lnSpc>
                <a:spcPts val="8730"/>
              </a:lnSpc>
            </a:pPr>
            <a:r>
              <a:rPr lang="en-US" sz="9000" b="true">
                <a:solidFill>
                  <a:srgbClr val="000000"/>
                </a:solidFill>
                <a:latin typeface="DM Sans Bold"/>
                <a:ea typeface="DM Sans Bold"/>
                <a:cs typeface="DM Sans Bold"/>
                <a:sym typeface="DM Sans Bold"/>
              </a:rPr>
              <a:t>Text to Speech</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881020" y="901798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4494772" y="9017983"/>
            <a:ext cx="4427843" cy="3481392"/>
          </a:xfrm>
          <a:custGeom>
            <a:avLst/>
            <a:gdLst/>
            <a:ahLst/>
            <a:cxnLst/>
            <a:rect r="r" b="b" t="t" l="l"/>
            <a:pathLst>
              <a:path h="3481392" w="4427843">
                <a:moveTo>
                  <a:pt x="0" y="0"/>
                </a:moveTo>
                <a:lnTo>
                  <a:pt x="4427843" y="0"/>
                </a:lnTo>
                <a:lnTo>
                  <a:pt x="4427843" y="3481391"/>
                </a:lnTo>
                <a:lnTo>
                  <a:pt x="0" y="348139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a:ln cap="sq">
            <a:noFill/>
            <a:prstDash val="solid"/>
            <a:miter/>
          </a:ln>
        </p:spPr>
      </p:sp>
      <p:sp>
        <p:nvSpPr>
          <p:cNvPr name="Freeform 5" id="5"/>
          <p:cNvSpPr/>
          <p:nvPr/>
        </p:nvSpPr>
        <p:spPr>
          <a:xfrm flipH="false" flipV="false" rot="0">
            <a:off x="11681302" y="-2102294"/>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7495522" y="-3297794"/>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4894702" y="-1796113"/>
            <a:ext cx="2892762" cy="2919301"/>
          </a:xfrm>
          <a:custGeom>
            <a:avLst/>
            <a:gdLst/>
            <a:ahLst/>
            <a:cxnLst/>
            <a:rect r="r" b="b" t="t" l="l"/>
            <a:pathLst>
              <a:path h="2919301" w="2892762">
                <a:moveTo>
                  <a:pt x="0" y="0"/>
                </a:moveTo>
                <a:lnTo>
                  <a:pt x="2892762" y="0"/>
                </a:lnTo>
                <a:lnTo>
                  <a:pt x="2892762" y="2919300"/>
                </a:lnTo>
                <a:lnTo>
                  <a:pt x="0" y="2919300"/>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6341083" y="9258300"/>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5282649">
            <a:off x="16037079" y="6834256"/>
            <a:ext cx="3382987" cy="1154444"/>
          </a:xfrm>
          <a:custGeom>
            <a:avLst/>
            <a:gdLst/>
            <a:ahLst/>
            <a:cxnLst/>
            <a:rect r="r" b="b" t="t" l="l"/>
            <a:pathLst>
              <a:path h="1154444" w="3382987">
                <a:moveTo>
                  <a:pt x="0" y="0"/>
                </a:moveTo>
                <a:lnTo>
                  <a:pt x="3382987" y="0"/>
                </a:lnTo>
                <a:lnTo>
                  <a:pt x="3382987" y="1154444"/>
                </a:lnTo>
                <a:lnTo>
                  <a:pt x="0" y="115444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701360" y="1534271"/>
            <a:ext cx="16885281" cy="7218457"/>
          </a:xfrm>
          <a:custGeom>
            <a:avLst/>
            <a:gdLst/>
            <a:ahLst/>
            <a:cxnLst/>
            <a:rect r="r" b="b" t="t" l="l"/>
            <a:pathLst>
              <a:path h="7218457" w="16885281">
                <a:moveTo>
                  <a:pt x="0" y="0"/>
                </a:moveTo>
                <a:lnTo>
                  <a:pt x="16885280" y="0"/>
                </a:lnTo>
                <a:lnTo>
                  <a:pt x="16885280" y="7218458"/>
                </a:lnTo>
                <a:lnTo>
                  <a:pt x="0" y="7218458"/>
                </a:lnTo>
                <a:lnTo>
                  <a:pt x="0" y="0"/>
                </a:lnTo>
                <a:close/>
              </a:path>
            </a:pathLst>
          </a:custGeom>
          <a:blipFill>
            <a:blip r:embed="rId19"/>
            <a:stretch>
              <a:fillRect l="0" t="0" r="0" b="0"/>
            </a:stretch>
          </a:blipFill>
        </p:spPr>
      </p:sp>
      <p:sp>
        <p:nvSpPr>
          <p:cNvPr name="Freeform 12" id="12"/>
          <p:cNvSpPr/>
          <p:nvPr/>
        </p:nvSpPr>
        <p:spPr>
          <a:xfrm flipH="false" flipV="false" rot="0">
            <a:off x="16708694" y="2125728"/>
            <a:ext cx="3575541" cy="3575541"/>
          </a:xfrm>
          <a:custGeom>
            <a:avLst/>
            <a:gdLst/>
            <a:ahLst/>
            <a:cxnLst/>
            <a:rect r="r" b="b" t="t" l="l"/>
            <a:pathLst>
              <a:path h="3575541" w="3575541">
                <a:moveTo>
                  <a:pt x="0" y="0"/>
                </a:moveTo>
                <a:lnTo>
                  <a:pt x="3575541" y="0"/>
                </a:lnTo>
                <a:lnTo>
                  <a:pt x="3575541" y="3575542"/>
                </a:lnTo>
                <a:lnTo>
                  <a:pt x="0" y="3575542"/>
                </a:lnTo>
                <a:lnTo>
                  <a:pt x="0" y="0"/>
                </a:lnTo>
                <a:close/>
              </a:path>
            </a:pathLst>
          </a:custGeom>
          <a:blipFill>
            <a:blip r:embed="rId20">
              <a:extLst>
                <a:ext uri="{96DAC541-7B7A-43D3-8B79-37D633B846F1}">
                  <asvg:svgBlip xmlns:asvg="http://schemas.microsoft.com/office/drawing/2016/SVG/main" r:embed="rId21"/>
                </a:ext>
              </a:extLst>
            </a:blip>
            <a:stretch>
              <a:fillRect l="0" t="0" r="0" b="0"/>
            </a:stretch>
          </a:blipFill>
          <a:ln cap="sq">
            <a:noFill/>
            <a:prstDash val="solid"/>
            <a:miter/>
          </a:ln>
        </p:spPr>
      </p:sp>
      <p:sp>
        <p:nvSpPr>
          <p:cNvPr name="Freeform 13" id="13"/>
          <p:cNvSpPr/>
          <p:nvPr/>
        </p:nvSpPr>
        <p:spPr>
          <a:xfrm flipH="false" flipV="false" rot="0">
            <a:off x="-510632" y="-1169411"/>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22">
              <a:extLst>
                <a:ext uri="{96DAC541-7B7A-43D3-8B79-37D633B846F1}">
                  <asvg:svgBlip xmlns:asvg="http://schemas.microsoft.com/office/drawing/2016/SVG/main" r:embed="rId23"/>
                </a:ext>
              </a:extLst>
            </a:blip>
            <a:stretch>
              <a:fillRect l="0" t="0" r="0" b="0"/>
            </a:stretch>
          </a:blipFill>
          <a:ln cap="sq">
            <a:noFill/>
            <a:prstDash val="solid"/>
            <a:miter/>
          </a:ln>
        </p:spPr>
      </p:sp>
      <p:sp>
        <p:nvSpPr>
          <p:cNvPr name="Freeform 14" id="14"/>
          <p:cNvSpPr/>
          <p:nvPr/>
        </p:nvSpPr>
        <p:spPr>
          <a:xfrm flipH="false" flipV="false" rot="0">
            <a:off x="-860681" y="8717060"/>
            <a:ext cx="3296956" cy="809253"/>
          </a:xfrm>
          <a:custGeom>
            <a:avLst/>
            <a:gdLst/>
            <a:ahLst/>
            <a:cxnLst/>
            <a:rect r="r" b="b" t="t" l="l"/>
            <a:pathLst>
              <a:path h="809253" w="3296956">
                <a:moveTo>
                  <a:pt x="0" y="0"/>
                </a:moveTo>
                <a:lnTo>
                  <a:pt x="3296956" y="0"/>
                </a:lnTo>
                <a:lnTo>
                  <a:pt x="3296956" y="809253"/>
                </a:lnTo>
                <a:lnTo>
                  <a:pt x="0" y="809253"/>
                </a:lnTo>
                <a:lnTo>
                  <a:pt x="0" y="0"/>
                </a:lnTo>
                <a:close/>
              </a:path>
            </a:pathLst>
          </a:custGeom>
          <a:blipFill>
            <a:blip r:embed="rId24">
              <a:extLst>
                <a:ext uri="{96DAC541-7B7A-43D3-8B79-37D633B846F1}">
                  <asvg:svgBlip xmlns:asvg="http://schemas.microsoft.com/office/drawing/2016/SVG/main" r:embed="rId25"/>
                </a:ext>
              </a:extLst>
            </a:blip>
            <a:stretch>
              <a:fillRect l="0" t="0" r="0" b="0"/>
            </a:stretch>
          </a:blipFill>
        </p:spPr>
      </p:sp>
      <p:sp>
        <p:nvSpPr>
          <p:cNvPr name="Freeform 15" id="15"/>
          <p:cNvSpPr/>
          <p:nvPr/>
        </p:nvSpPr>
        <p:spPr>
          <a:xfrm flipH="false" flipV="false" rot="4747568">
            <a:off x="-2448048" y="4088819"/>
            <a:ext cx="4896097" cy="2735694"/>
          </a:xfrm>
          <a:custGeom>
            <a:avLst/>
            <a:gdLst/>
            <a:ahLst/>
            <a:cxnLst/>
            <a:rect r="r" b="b" t="t" l="l"/>
            <a:pathLst>
              <a:path h="2735694" w="4896097">
                <a:moveTo>
                  <a:pt x="0" y="0"/>
                </a:moveTo>
                <a:lnTo>
                  <a:pt x="4896096" y="0"/>
                </a:lnTo>
                <a:lnTo>
                  <a:pt x="4896096" y="2735694"/>
                </a:lnTo>
                <a:lnTo>
                  <a:pt x="0" y="2735694"/>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a:ln cap="sq">
            <a:noFill/>
            <a:prstDash val="solid"/>
            <a:miter/>
          </a:ln>
        </p:spPr>
      </p:sp>
      <p:sp>
        <p:nvSpPr>
          <p:cNvPr name="Freeform 16" id="16"/>
          <p:cNvSpPr/>
          <p:nvPr/>
        </p:nvSpPr>
        <p:spPr>
          <a:xfrm flipH="false" flipV="false" rot="0">
            <a:off x="16320414" y="-1169411"/>
            <a:ext cx="3104522" cy="3342688"/>
          </a:xfrm>
          <a:custGeom>
            <a:avLst/>
            <a:gdLst/>
            <a:ahLst/>
            <a:cxnLst/>
            <a:rect r="r" b="b" t="t" l="l"/>
            <a:pathLst>
              <a:path h="3342688" w="3104522">
                <a:moveTo>
                  <a:pt x="0" y="0"/>
                </a:moveTo>
                <a:lnTo>
                  <a:pt x="3104522" y="0"/>
                </a:lnTo>
                <a:lnTo>
                  <a:pt x="3104522" y="3342689"/>
                </a:lnTo>
                <a:lnTo>
                  <a:pt x="0" y="3342689"/>
                </a:lnTo>
                <a:lnTo>
                  <a:pt x="0" y="0"/>
                </a:lnTo>
                <a:close/>
              </a:path>
            </a:pathLst>
          </a:custGeom>
          <a:blipFill>
            <a:blip r:embed="rId28">
              <a:extLst>
                <a:ext uri="{96DAC541-7B7A-43D3-8B79-37D633B846F1}">
                  <asvg:svgBlip xmlns:asvg="http://schemas.microsoft.com/office/drawing/2016/SVG/main" r:embed="rId29"/>
                </a:ext>
              </a:extLst>
            </a:blip>
            <a:stretch>
              <a:fillRect l="0" t="0" r="0" b="0"/>
            </a:stretch>
          </a:blipFill>
          <a:ln cap="sq">
            <a:noFill/>
            <a:prstDash val="solid"/>
            <a:miter/>
          </a:ln>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7900054">
            <a:off x="7348622" y="2133028"/>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2700000">
            <a:off x="10017119" y="214449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3209977">
            <a:off x="9982257" y="7689589"/>
            <a:ext cx="1012981" cy="454921"/>
          </a:xfrm>
          <a:custGeom>
            <a:avLst/>
            <a:gdLst/>
            <a:ahLst/>
            <a:cxnLst/>
            <a:rect r="r" b="b" t="t" l="l"/>
            <a:pathLst>
              <a:path h="454921" w="1012981">
                <a:moveTo>
                  <a:pt x="0" y="0"/>
                </a:moveTo>
                <a:lnTo>
                  <a:pt x="1012981" y="0"/>
                </a:lnTo>
                <a:lnTo>
                  <a:pt x="1012981" y="454921"/>
                </a:lnTo>
                <a:lnTo>
                  <a:pt x="0" y="4549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7866361">
            <a:off x="7243302" y="7665457"/>
            <a:ext cx="1012981" cy="454921"/>
          </a:xfrm>
          <a:custGeom>
            <a:avLst/>
            <a:gdLst/>
            <a:ahLst/>
            <a:cxnLst/>
            <a:rect r="r" b="b" t="t" l="l"/>
            <a:pathLst>
              <a:path h="454921" w="1012981">
                <a:moveTo>
                  <a:pt x="0" y="0"/>
                </a:moveTo>
                <a:lnTo>
                  <a:pt x="1012982" y="0"/>
                </a:lnTo>
                <a:lnTo>
                  <a:pt x="1012982" y="454921"/>
                </a:lnTo>
                <a:lnTo>
                  <a:pt x="0" y="454921"/>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grpSp>
        <p:nvGrpSpPr>
          <p:cNvPr name="Group 7" id="7"/>
          <p:cNvGrpSpPr/>
          <p:nvPr/>
        </p:nvGrpSpPr>
        <p:grpSpPr>
          <a:xfrm rot="0">
            <a:off x="12119736" y="1025292"/>
            <a:ext cx="5587239" cy="2662922"/>
            <a:chOff x="0" y="0"/>
            <a:chExt cx="2065940" cy="984643"/>
          </a:xfrm>
        </p:grpSpPr>
        <p:sp>
          <p:nvSpPr>
            <p:cNvPr name="Freeform 8" id="8"/>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9" id="9"/>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0" id="10"/>
          <p:cNvGrpSpPr/>
          <p:nvPr/>
        </p:nvGrpSpPr>
        <p:grpSpPr>
          <a:xfrm rot="0">
            <a:off x="12119736" y="3808631"/>
            <a:ext cx="5587239" cy="2662922"/>
            <a:chOff x="0" y="0"/>
            <a:chExt cx="2065940" cy="984643"/>
          </a:xfrm>
        </p:grpSpPr>
        <p:sp>
          <p:nvSpPr>
            <p:cNvPr name="Freeform 11" id="11"/>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2" id="12"/>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13" id="13"/>
          <p:cNvGrpSpPr/>
          <p:nvPr/>
        </p:nvGrpSpPr>
        <p:grpSpPr>
          <a:xfrm rot="0">
            <a:off x="12119736" y="6595378"/>
            <a:ext cx="5587239" cy="2662922"/>
            <a:chOff x="0" y="0"/>
            <a:chExt cx="2065940" cy="984643"/>
          </a:xfrm>
        </p:grpSpPr>
        <p:sp>
          <p:nvSpPr>
            <p:cNvPr name="Freeform 14" id="14"/>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15" id="15"/>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16" id="16"/>
          <p:cNvSpPr/>
          <p:nvPr/>
        </p:nvSpPr>
        <p:spPr>
          <a:xfrm flipH="false" flipV="false" rot="0">
            <a:off x="12566592" y="1547255"/>
            <a:ext cx="1521152" cy="1697240"/>
          </a:xfrm>
          <a:custGeom>
            <a:avLst/>
            <a:gdLst/>
            <a:ahLst/>
            <a:cxnLst/>
            <a:rect r="r" b="b" t="t" l="l"/>
            <a:pathLst>
              <a:path h="1697240" w="1521152">
                <a:moveTo>
                  <a:pt x="0" y="0"/>
                </a:moveTo>
                <a:lnTo>
                  <a:pt x="1521151" y="0"/>
                </a:lnTo>
                <a:lnTo>
                  <a:pt x="1521151" y="1697240"/>
                </a:lnTo>
                <a:lnTo>
                  <a:pt x="0" y="1697240"/>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17" id="17"/>
          <p:cNvSpPr/>
          <p:nvPr/>
        </p:nvSpPr>
        <p:spPr>
          <a:xfrm flipH="false" flipV="false" rot="0">
            <a:off x="12392092" y="7131683"/>
            <a:ext cx="1907691" cy="1635845"/>
          </a:xfrm>
          <a:custGeom>
            <a:avLst/>
            <a:gdLst/>
            <a:ahLst/>
            <a:cxnLst/>
            <a:rect r="r" b="b" t="t" l="l"/>
            <a:pathLst>
              <a:path h="1635845" w="1907691">
                <a:moveTo>
                  <a:pt x="0" y="0"/>
                </a:moveTo>
                <a:lnTo>
                  <a:pt x="1907692" y="0"/>
                </a:lnTo>
                <a:lnTo>
                  <a:pt x="1907692" y="1635845"/>
                </a:lnTo>
                <a:lnTo>
                  <a:pt x="0" y="163584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8" id="18"/>
          <p:cNvSpPr/>
          <p:nvPr/>
        </p:nvSpPr>
        <p:spPr>
          <a:xfrm flipH="false" flipV="false" rot="0">
            <a:off x="12464331" y="4273120"/>
            <a:ext cx="1776392" cy="1676470"/>
          </a:xfrm>
          <a:custGeom>
            <a:avLst/>
            <a:gdLst/>
            <a:ahLst/>
            <a:cxnLst/>
            <a:rect r="r" b="b" t="t" l="l"/>
            <a:pathLst>
              <a:path h="1676470" w="1776392">
                <a:moveTo>
                  <a:pt x="0" y="0"/>
                </a:moveTo>
                <a:lnTo>
                  <a:pt x="1776392" y="0"/>
                </a:lnTo>
                <a:lnTo>
                  <a:pt x="1776392" y="1676470"/>
                </a:lnTo>
                <a:lnTo>
                  <a:pt x="0" y="167647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TextBox 19" id="19"/>
          <p:cNvSpPr txBox="true"/>
          <p:nvPr/>
        </p:nvSpPr>
        <p:spPr>
          <a:xfrm rot="0">
            <a:off x="14549511" y="1705231"/>
            <a:ext cx="2816627" cy="1272413"/>
          </a:xfrm>
          <a:prstGeom prst="rect">
            <a:avLst/>
          </a:prstGeom>
        </p:spPr>
        <p:txBody>
          <a:bodyPr anchor="t" rtlCol="false" tIns="0" lIns="0" bIns="0" rIns="0">
            <a:spAutoFit/>
          </a:bodyPr>
          <a:lstStyle/>
          <a:p>
            <a:pPr algn="l" marL="0" indent="0" lvl="0">
              <a:lnSpc>
                <a:spcPts val="2085"/>
              </a:lnSpc>
              <a:spcBef>
                <a:spcPct val="0"/>
              </a:spcBef>
            </a:pPr>
            <a:r>
              <a:rPr lang="en-US" b="true" sz="1399">
                <a:solidFill>
                  <a:srgbClr val="000000"/>
                </a:solidFill>
                <a:latin typeface="DM Sans Bold"/>
                <a:ea typeface="DM Sans Bold"/>
                <a:cs typeface="DM Sans Bold"/>
                <a:sym typeface="DM Sans Bold"/>
              </a:rPr>
              <a:t>Expanded Language Support:</a:t>
            </a:r>
            <a:r>
              <a:rPr lang="en-US" sz="1399">
                <a:solidFill>
                  <a:srgbClr val="000000"/>
                </a:solidFill>
                <a:latin typeface="DM Sans"/>
                <a:ea typeface="DM Sans"/>
                <a:cs typeface="DM Sans"/>
                <a:sym typeface="DM Sans"/>
              </a:rPr>
              <a:t> Incorporate more regional languages and dialects to enhance inclusivity and cater to underrepresented communities.</a:t>
            </a:r>
          </a:p>
        </p:txBody>
      </p:sp>
      <p:sp>
        <p:nvSpPr>
          <p:cNvPr name="TextBox 20" id="20"/>
          <p:cNvSpPr txBox="true"/>
          <p:nvPr/>
        </p:nvSpPr>
        <p:spPr>
          <a:xfrm rot="0">
            <a:off x="14549511" y="4227660"/>
            <a:ext cx="2816627" cy="1786763"/>
          </a:xfrm>
          <a:prstGeom prst="rect">
            <a:avLst/>
          </a:prstGeom>
        </p:spPr>
        <p:txBody>
          <a:bodyPr anchor="t" rtlCol="false" tIns="0" lIns="0" bIns="0" rIns="0">
            <a:spAutoFit/>
          </a:bodyPr>
          <a:lstStyle/>
          <a:p>
            <a:pPr algn="l" marL="0" indent="0" lvl="0">
              <a:lnSpc>
                <a:spcPts val="2085"/>
              </a:lnSpc>
              <a:spcBef>
                <a:spcPct val="0"/>
              </a:spcBef>
            </a:pPr>
            <a:r>
              <a:rPr lang="en-US" b="true" sz="1399">
                <a:solidFill>
                  <a:srgbClr val="000000"/>
                </a:solidFill>
                <a:latin typeface="DM Sans Bold"/>
                <a:ea typeface="DM Sans Bold"/>
                <a:cs typeface="DM Sans Bold"/>
                <a:sym typeface="DM Sans Bold"/>
              </a:rPr>
              <a:t>Enhanced Accuracy &amp; User Customization:</a:t>
            </a:r>
            <a:r>
              <a:rPr lang="en-US" sz="1399">
                <a:solidFill>
                  <a:srgbClr val="000000"/>
                </a:solidFill>
                <a:latin typeface="DM Sans"/>
                <a:ea typeface="DM Sans"/>
                <a:cs typeface="DM Sans"/>
                <a:sym typeface="DM Sans"/>
              </a:rPr>
              <a:t> Improve transcription and translation precision through adaptive learning and user-defined settings like language, summary length, and voice options.</a:t>
            </a:r>
          </a:p>
        </p:txBody>
      </p:sp>
      <p:sp>
        <p:nvSpPr>
          <p:cNvPr name="TextBox 21" id="21"/>
          <p:cNvSpPr txBox="true"/>
          <p:nvPr/>
        </p:nvSpPr>
        <p:spPr>
          <a:xfrm rot="0">
            <a:off x="14549511" y="7014478"/>
            <a:ext cx="2816627" cy="1786763"/>
          </a:xfrm>
          <a:prstGeom prst="rect">
            <a:avLst/>
          </a:prstGeom>
        </p:spPr>
        <p:txBody>
          <a:bodyPr anchor="t" rtlCol="false" tIns="0" lIns="0" bIns="0" rIns="0">
            <a:spAutoFit/>
          </a:bodyPr>
          <a:lstStyle/>
          <a:p>
            <a:pPr algn="l" marL="0" indent="0" lvl="0">
              <a:lnSpc>
                <a:spcPts val="2085"/>
              </a:lnSpc>
              <a:spcBef>
                <a:spcPct val="0"/>
              </a:spcBef>
            </a:pPr>
            <a:r>
              <a:rPr lang="en-US" b="true" sz="1399">
                <a:solidFill>
                  <a:srgbClr val="000000"/>
                </a:solidFill>
                <a:latin typeface="DM Sans Bold"/>
                <a:ea typeface="DM Sans Bold"/>
                <a:cs typeface="DM Sans Bold"/>
                <a:sym typeface="DM Sans Bold"/>
              </a:rPr>
              <a:t>Platform Integration &amp; Scalability: </a:t>
            </a:r>
            <a:r>
              <a:rPr lang="en-US" sz="1399">
                <a:solidFill>
                  <a:srgbClr val="000000"/>
                </a:solidFill>
                <a:latin typeface="DM Sans"/>
                <a:ea typeface="DM Sans"/>
                <a:cs typeface="DM Sans"/>
                <a:sym typeface="DM Sans"/>
              </a:rPr>
              <a:t>Integrate with social media, learning platforms, and conferencing tools while optimizing for performance and scalability to meet growing user demand.</a:t>
            </a:r>
          </a:p>
        </p:txBody>
      </p:sp>
      <p:grpSp>
        <p:nvGrpSpPr>
          <p:cNvPr name="Group 22" id="22"/>
          <p:cNvGrpSpPr/>
          <p:nvPr/>
        </p:nvGrpSpPr>
        <p:grpSpPr>
          <a:xfrm rot="0">
            <a:off x="581025" y="994851"/>
            <a:ext cx="5587239" cy="2662922"/>
            <a:chOff x="0" y="0"/>
            <a:chExt cx="2065940" cy="984643"/>
          </a:xfrm>
        </p:grpSpPr>
        <p:sp>
          <p:nvSpPr>
            <p:cNvPr name="Freeform 23" id="23"/>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24" id="24"/>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5" id="25"/>
          <p:cNvGrpSpPr/>
          <p:nvPr/>
        </p:nvGrpSpPr>
        <p:grpSpPr>
          <a:xfrm rot="0">
            <a:off x="581025" y="3778190"/>
            <a:ext cx="5587239" cy="2662922"/>
            <a:chOff x="0" y="0"/>
            <a:chExt cx="2065940" cy="984643"/>
          </a:xfrm>
        </p:grpSpPr>
        <p:sp>
          <p:nvSpPr>
            <p:cNvPr name="Freeform 26" id="26"/>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27" id="27"/>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grpSp>
        <p:nvGrpSpPr>
          <p:cNvPr name="Group 28" id="28"/>
          <p:cNvGrpSpPr/>
          <p:nvPr/>
        </p:nvGrpSpPr>
        <p:grpSpPr>
          <a:xfrm rot="0">
            <a:off x="581025" y="6564937"/>
            <a:ext cx="5587239" cy="2662922"/>
            <a:chOff x="0" y="0"/>
            <a:chExt cx="2065940" cy="984643"/>
          </a:xfrm>
        </p:grpSpPr>
        <p:sp>
          <p:nvSpPr>
            <p:cNvPr name="Freeform 29" id="29"/>
            <p:cNvSpPr/>
            <p:nvPr/>
          </p:nvSpPr>
          <p:spPr>
            <a:xfrm flipH="false" flipV="false" rot="0">
              <a:off x="0" y="0"/>
              <a:ext cx="2065940" cy="984643"/>
            </a:xfrm>
            <a:custGeom>
              <a:avLst/>
              <a:gdLst/>
              <a:ahLst/>
              <a:cxnLst/>
              <a:rect r="r" b="b" t="t" l="l"/>
              <a:pathLst>
                <a:path h="984643" w="2065940">
                  <a:moveTo>
                    <a:pt x="20785" y="0"/>
                  </a:moveTo>
                  <a:lnTo>
                    <a:pt x="2045156" y="0"/>
                  </a:lnTo>
                  <a:cubicBezTo>
                    <a:pt x="2056635" y="0"/>
                    <a:pt x="2065940" y="9306"/>
                    <a:pt x="2065940" y="20785"/>
                  </a:cubicBezTo>
                  <a:lnTo>
                    <a:pt x="2065940" y="963859"/>
                  </a:lnTo>
                  <a:cubicBezTo>
                    <a:pt x="2065940" y="975338"/>
                    <a:pt x="2056635" y="984643"/>
                    <a:pt x="2045156" y="984643"/>
                  </a:cubicBezTo>
                  <a:lnTo>
                    <a:pt x="20785" y="984643"/>
                  </a:lnTo>
                  <a:cubicBezTo>
                    <a:pt x="9306" y="984643"/>
                    <a:pt x="0" y="975338"/>
                    <a:pt x="0" y="963859"/>
                  </a:cubicBezTo>
                  <a:lnTo>
                    <a:pt x="0" y="20785"/>
                  </a:lnTo>
                  <a:cubicBezTo>
                    <a:pt x="0" y="9306"/>
                    <a:pt x="9306" y="0"/>
                    <a:pt x="20785" y="0"/>
                  </a:cubicBezTo>
                  <a:close/>
                </a:path>
              </a:pathLst>
            </a:custGeom>
            <a:solidFill>
              <a:srgbClr val="8AB7E2"/>
            </a:solidFill>
            <a:ln w="9525" cap="sq">
              <a:solidFill>
                <a:srgbClr val="000000"/>
              </a:solidFill>
              <a:prstDash val="solid"/>
              <a:miter/>
            </a:ln>
          </p:spPr>
        </p:sp>
        <p:sp>
          <p:nvSpPr>
            <p:cNvPr name="TextBox 30" id="30"/>
            <p:cNvSpPr txBox="true"/>
            <p:nvPr/>
          </p:nvSpPr>
          <p:spPr>
            <a:xfrm>
              <a:off x="0" y="-38100"/>
              <a:ext cx="2065940" cy="1022743"/>
            </a:xfrm>
            <a:prstGeom prst="rect">
              <a:avLst/>
            </a:prstGeom>
          </p:spPr>
          <p:txBody>
            <a:bodyPr anchor="ctr" rtlCol="false" tIns="50800" lIns="50800" bIns="50800" rIns="50800"/>
            <a:lstStyle/>
            <a:p>
              <a:pPr algn="ctr" marL="0" indent="0" lvl="0">
                <a:lnSpc>
                  <a:spcPts val="2659"/>
                </a:lnSpc>
                <a:spcBef>
                  <a:spcPct val="0"/>
                </a:spcBef>
              </a:pPr>
            </a:p>
          </p:txBody>
        </p:sp>
      </p:grpSp>
      <p:sp>
        <p:nvSpPr>
          <p:cNvPr name="Freeform 31" id="31"/>
          <p:cNvSpPr/>
          <p:nvPr/>
        </p:nvSpPr>
        <p:spPr>
          <a:xfrm flipH="false" flipV="false" rot="0">
            <a:off x="816934" y="1465570"/>
            <a:ext cx="1829699" cy="1745076"/>
          </a:xfrm>
          <a:custGeom>
            <a:avLst/>
            <a:gdLst/>
            <a:ahLst/>
            <a:cxnLst/>
            <a:rect r="r" b="b" t="t" l="l"/>
            <a:pathLst>
              <a:path h="1745076" w="1829699">
                <a:moveTo>
                  <a:pt x="0" y="0"/>
                </a:moveTo>
                <a:lnTo>
                  <a:pt x="1829699" y="0"/>
                </a:lnTo>
                <a:lnTo>
                  <a:pt x="1829699" y="1745076"/>
                </a:lnTo>
                <a:lnTo>
                  <a:pt x="0" y="174507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32" id="32"/>
          <p:cNvSpPr/>
          <p:nvPr/>
        </p:nvSpPr>
        <p:spPr>
          <a:xfrm flipH="false" flipV="false" rot="0">
            <a:off x="960971" y="4078492"/>
            <a:ext cx="1541626" cy="2055501"/>
          </a:xfrm>
          <a:custGeom>
            <a:avLst/>
            <a:gdLst/>
            <a:ahLst/>
            <a:cxnLst/>
            <a:rect r="r" b="b" t="t" l="l"/>
            <a:pathLst>
              <a:path h="2055501" w="1541626">
                <a:moveTo>
                  <a:pt x="0" y="0"/>
                </a:moveTo>
                <a:lnTo>
                  <a:pt x="1541625" y="0"/>
                </a:lnTo>
                <a:lnTo>
                  <a:pt x="1541625" y="2055502"/>
                </a:lnTo>
                <a:lnTo>
                  <a:pt x="0" y="2055502"/>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33" id="33"/>
          <p:cNvSpPr/>
          <p:nvPr/>
        </p:nvSpPr>
        <p:spPr>
          <a:xfrm flipH="false" flipV="false" rot="0">
            <a:off x="758417" y="7032721"/>
            <a:ext cx="1946733" cy="1700958"/>
          </a:xfrm>
          <a:custGeom>
            <a:avLst/>
            <a:gdLst/>
            <a:ahLst/>
            <a:cxnLst/>
            <a:rect r="r" b="b" t="t" l="l"/>
            <a:pathLst>
              <a:path h="1700958" w="1946733">
                <a:moveTo>
                  <a:pt x="0" y="0"/>
                </a:moveTo>
                <a:lnTo>
                  <a:pt x="1946733" y="0"/>
                </a:lnTo>
                <a:lnTo>
                  <a:pt x="1946733" y="1700958"/>
                </a:lnTo>
                <a:lnTo>
                  <a:pt x="0" y="1700958"/>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TextBox 34" id="34"/>
          <p:cNvSpPr txBox="true"/>
          <p:nvPr/>
        </p:nvSpPr>
        <p:spPr>
          <a:xfrm rot="0">
            <a:off x="3010800" y="1459525"/>
            <a:ext cx="2816627" cy="1786763"/>
          </a:xfrm>
          <a:prstGeom prst="rect">
            <a:avLst/>
          </a:prstGeom>
        </p:spPr>
        <p:txBody>
          <a:bodyPr anchor="t" rtlCol="false" tIns="0" lIns="0" bIns="0" rIns="0">
            <a:spAutoFit/>
          </a:bodyPr>
          <a:lstStyle/>
          <a:p>
            <a:pPr algn="l" marL="0" indent="0" lvl="0">
              <a:lnSpc>
                <a:spcPts val="2085"/>
              </a:lnSpc>
            </a:pPr>
            <a:r>
              <a:rPr lang="en-US" sz="1399">
                <a:solidFill>
                  <a:srgbClr val="000000"/>
                </a:solidFill>
                <a:latin typeface="DM Sans"/>
                <a:ea typeface="DM Sans"/>
                <a:cs typeface="DM Sans"/>
                <a:sym typeface="DM Sans"/>
              </a:rPr>
              <a:t>The Bilingual Language Translation Transcribing System addresses language barriers by offering real-time audio/video translations and summarizations, fostering inclusivity in education, business, and media.</a:t>
            </a:r>
          </a:p>
        </p:txBody>
      </p:sp>
      <p:sp>
        <p:nvSpPr>
          <p:cNvPr name="TextBox 35" id="35"/>
          <p:cNvSpPr txBox="true"/>
          <p:nvPr/>
        </p:nvSpPr>
        <p:spPr>
          <a:xfrm rot="0">
            <a:off x="3010800" y="4356248"/>
            <a:ext cx="2816627" cy="1529588"/>
          </a:xfrm>
          <a:prstGeom prst="rect">
            <a:avLst/>
          </a:prstGeom>
        </p:spPr>
        <p:txBody>
          <a:bodyPr anchor="t" rtlCol="false" tIns="0" lIns="0" bIns="0" rIns="0">
            <a:spAutoFit/>
          </a:bodyPr>
          <a:lstStyle/>
          <a:p>
            <a:pPr algn="l" marL="0" indent="0" lvl="0">
              <a:lnSpc>
                <a:spcPts val="2085"/>
              </a:lnSpc>
            </a:pPr>
            <a:r>
              <a:rPr lang="en-US" sz="1399">
                <a:solidFill>
                  <a:srgbClr val="000000"/>
                </a:solidFill>
                <a:latin typeface="DM Sans"/>
                <a:ea typeface="DM Sans"/>
                <a:cs typeface="DM Sans"/>
                <a:sym typeface="DM Sans"/>
              </a:rPr>
              <a:t>It ensures seamless communication across demographics, providing a user-friendly interface to interact with multilingual content for enhanced learning and accessibility.</a:t>
            </a:r>
          </a:p>
        </p:txBody>
      </p:sp>
      <p:sp>
        <p:nvSpPr>
          <p:cNvPr name="TextBox 36" id="36"/>
          <p:cNvSpPr txBox="true"/>
          <p:nvPr/>
        </p:nvSpPr>
        <p:spPr>
          <a:xfrm rot="0">
            <a:off x="3010800" y="7093583"/>
            <a:ext cx="2816627" cy="1529588"/>
          </a:xfrm>
          <a:prstGeom prst="rect">
            <a:avLst/>
          </a:prstGeom>
        </p:spPr>
        <p:txBody>
          <a:bodyPr anchor="t" rtlCol="false" tIns="0" lIns="0" bIns="0" rIns="0">
            <a:spAutoFit/>
          </a:bodyPr>
          <a:lstStyle/>
          <a:p>
            <a:pPr algn="l" marL="0" indent="0" lvl="0">
              <a:lnSpc>
                <a:spcPts val="2085"/>
              </a:lnSpc>
            </a:pPr>
            <a:r>
              <a:rPr lang="en-US" sz="1399">
                <a:solidFill>
                  <a:srgbClr val="000000"/>
                </a:solidFill>
                <a:latin typeface="DM Sans"/>
                <a:ea typeface="DM Sans"/>
                <a:cs typeface="DM Sans"/>
                <a:sym typeface="DM Sans"/>
              </a:rPr>
              <a:t>By empowering economically disadvantaged communities with accessible tools, the project advances equitable access to information and promotes global collaboration.</a:t>
            </a:r>
          </a:p>
        </p:txBody>
      </p:sp>
      <p:sp>
        <p:nvSpPr>
          <p:cNvPr name="TextBox 37" id="37"/>
          <p:cNvSpPr txBox="true"/>
          <p:nvPr/>
        </p:nvSpPr>
        <p:spPr>
          <a:xfrm rot="0">
            <a:off x="6386739" y="3404739"/>
            <a:ext cx="5514523" cy="3005456"/>
          </a:xfrm>
          <a:prstGeom prst="rect">
            <a:avLst/>
          </a:prstGeom>
        </p:spPr>
        <p:txBody>
          <a:bodyPr anchor="t" rtlCol="false" tIns="0" lIns="0" bIns="0" rIns="0">
            <a:spAutoFit/>
          </a:bodyPr>
          <a:lstStyle/>
          <a:p>
            <a:pPr algn="ctr" marL="0" indent="0" lvl="1">
              <a:lnSpc>
                <a:spcPts val="7760"/>
              </a:lnSpc>
              <a:spcBef>
                <a:spcPct val="0"/>
              </a:spcBef>
            </a:pPr>
            <a:r>
              <a:rPr lang="en-US" b="true" sz="8000">
                <a:solidFill>
                  <a:srgbClr val="000000"/>
                </a:solidFill>
                <a:latin typeface="DM Sans Bold"/>
                <a:ea typeface="DM Sans Bold"/>
                <a:cs typeface="DM Sans Bold"/>
                <a:sym typeface="DM Sans Bold"/>
              </a:rPr>
              <a:t>Conclusion &amp; Future Scope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5400000">
            <a:off x="4000500" y="-4000500"/>
            <a:ext cx="10287000" cy="18288000"/>
          </a:xfrm>
          <a:custGeom>
            <a:avLst/>
            <a:gdLst/>
            <a:ahLst/>
            <a:cxnLst/>
            <a:rect r="r" b="b" t="t" l="l"/>
            <a:pathLst>
              <a:path h="18288000" w="10287000">
                <a:moveTo>
                  <a:pt x="10287000" y="0"/>
                </a:moveTo>
                <a:lnTo>
                  <a:pt x="10287000" y="18288000"/>
                </a:lnTo>
                <a:lnTo>
                  <a:pt x="0" y="18288000"/>
                </a:lnTo>
                <a:lnTo>
                  <a:pt x="0" y="0"/>
                </a:lnTo>
                <a:lnTo>
                  <a:pt x="10287000" y="0"/>
                </a:lnTo>
                <a:close/>
              </a:path>
            </a:pathLst>
          </a:custGeom>
          <a:blipFill>
            <a:blip r:embed="rId2"/>
            <a:stretch>
              <a:fillRect l="-71867" t="-3631" r="-74156" b="-2747"/>
            </a:stretch>
          </a:blipFill>
        </p:spPr>
      </p:sp>
      <p:sp>
        <p:nvSpPr>
          <p:cNvPr name="Freeform 3" id="3"/>
          <p:cNvSpPr/>
          <p:nvPr/>
        </p:nvSpPr>
        <p:spPr>
          <a:xfrm flipH="false" flipV="false" rot="0">
            <a:off x="-2329398" y="8614893"/>
            <a:ext cx="4899948" cy="3344214"/>
          </a:xfrm>
          <a:custGeom>
            <a:avLst/>
            <a:gdLst/>
            <a:ahLst/>
            <a:cxnLst/>
            <a:rect r="r" b="b" t="t" l="l"/>
            <a:pathLst>
              <a:path h="3344214" w="4899948">
                <a:moveTo>
                  <a:pt x="0" y="0"/>
                </a:moveTo>
                <a:lnTo>
                  <a:pt x="4899947" y="0"/>
                </a:lnTo>
                <a:lnTo>
                  <a:pt x="4899947" y="3344214"/>
                </a:lnTo>
                <a:lnTo>
                  <a:pt x="0" y="334421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030709" y="9258300"/>
            <a:ext cx="3059829" cy="751049"/>
          </a:xfrm>
          <a:custGeom>
            <a:avLst/>
            <a:gdLst/>
            <a:ahLst/>
            <a:cxnLst/>
            <a:rect r="r" b="b" t="t" l="l"/>
            <a:pathLst>
              <a:path h="751049" w="3059829">
                <a:moveTo>
                  <a:pt x="0" y="0"/>
                </a:moveTo>
                <a:lnTo>
                  <a:pt x="3059829" y="0"/>
                </a:lnTo>
                <a:lnTo>
                  <a:pt x="3059829" y="751049"/>
                </a:lnTo>
                <a:lnTo>
                  <a:pt x="0" y="751049"/>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5" id="5"/>
          <p:cNvSpPr/>
          <p:nvPr/>
        </p:nvSpPr>
        <p:spPr>
          <a:xfrm flipH="false" flipV="false" rot="0">
            <a:off x="14215205" y="8540136"/>
            <a:ext cx="4602314" cy="3618569"/>
          </a:xfrm>
          <a:custGeom>
            <a:avLst/>
            <a:gdLst/>
            <a:ahLst/>
            <a:cxnLst/>
            <a:rect r="r" b="b" t="t" l="l"/>
            <a:pathLst>
              <a:path h="3618569" w="4602314">
                <a:moveTo>
                  <a:pt x="0" y="0"/>
                </a:moveTo>
                <a:lnTo>
                  <a:pt x="4602314" y="0"/>
                </a:lnTo>
                <a:lnTo>
                  <a:pt x="4602314" y="3618570"/>
                </a:lnTo>
                <a:lnTo>
                  <a:pt x="0" y="3618570"/>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a:ln cap="sq">
            <a:noFill/>
            <a:prstDash val="solid"/>
            <a:miter/>
          </a:ln>
        </p:spPr>
      </p:sp>
      <p:sp>
        <p:nvSpPr>
          <p:cNvPr name="Freeform 6" id="6"/>
          <p:cNvSpPr/>
          <p:nvPr/>
        </p:nvSpPr>
        <p:spPr>
          <a:xfrm flipH="false" flipV="false" rot="0">
            <a:off x="-674156" y="-1072630"/>
            <a:ext cx="4899948" cy="3068592"/>
          </a:xfrm>
          <a:custGeom>
            <a:avLst/>
            <a:gdLst/>
            <a:ahLst/>
            <a:cxnLst/>
            <a:rect r="r" b="b" t="t" l="l"/>
            <a:pathLst>
              <a:path h="3068592" w="4899948">
                <a:moveTo>
                  <a:pt x="0" y="0"/>
                </a:moveTo>
                <a:lnTo>
                  <a:pt x="4899948" y="0"/>
                </a:lnTo>
                <a:lnTo>
                  <a:pt x="4899948" y="3068592"/>
                </a:lnTo>
                <a:lnTo>
                  <a:pt x="0" y="3068592"/>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a:ln cap="sq">
            <a:noFill/>
            <a:prstDash val="solid"/>
            <a:miter/>
          </a:ln>
        </p:spPr>
      </p:sp>
      <p:sp>
        <p:nvSpPr>
          <p:cNvPr name="Freeform 7" id="7"/>
          <p:cNvSpPr/>
          <p:nvPr/>
        </p:nvSpPr>
        <p:spPr>
          <a:xfrm flipH="false" flipV="false" rot="0">
            <a:off x="12686214" y="-2578193"/>
            <a:ext cx="4292424" cy="3870986"/>
          </a:xfrm>
          <a:custGeom>
            <a:avLst/>
            <a:gdLst/>
            <a:ahLst/>
            <a:cxnLst/>
            <a:rect r="r" b="b" t="t" l="l"/>
            <a:pathLst>
              <a:path h="3870986" w="4292424">
                <a:moveTo>
                  <a:pt x="0" y="0"/>
                </a:moveTo>
                <a:lnTo>
                  <a:pt x="4292424" y="0"/>
                </a:lnTo>
                <a:lnTo>
                  <a:pt x="4292424" y="3870986"/>
                </a:lnTo>
                <a:lnTo>
                  <a:pt x="0" y="3870986"/>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a:ln cap="sq">
            <a:noFill/>
            <a:prstDash val="solid"/>
            <a:miter/>
          </a:ln>
        </p:spPr>
      </p:sp>
      <p:sp>
        <p:nvSpPr>
          <p:cNvPr name="Freeform 8" id="8"/>
          <p:cNvSpPr/>
          <p:nvPr/>
        </p:nvSpPr>
        <p:spPr>
          <a:xfrm flipH="false" flipV="false" rot="0">
            <a:off x="10138935" y="9258300"/>
            <a:ext cx="4076270" cy="2863579"/>
          </a:xfrm>
          <a:custGeom>
            <a:avLst/>
            <a:gdLst/>
            <a:ahLst/>
            <a:cxnLst/>
            <a:rect r="r" b="b" t="t" l="l"/>
            <a:pathLst>
              <a:path h="2863579" w="4076270">
                <a:moveTo>
                  <a:pt x="0" y="0"/>
                </a:moveTo>
                <a:lnTo>
                  <a:pt x="4076270" y="0"/>
                </a:lnTo>
                <a:lnTo>
                  <a:pt x="4076270" y="2863579"/>
                </a:lnTo>
                <a:lnTo>
                  <a:pt x="0" y="2863579"/>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a:ln cap="sq">
            <a:noFill/>
            <a:prstDash val="solid"/>
            <a:miter/>
          </a:ln>
        </p:spPr>
      </p:sp>
      <p:sp>
        <p:nvSpPr>
          <p:cNvPr name="Freeform 9" id="9"/>
          <p:cNvSpPr/>
          <p:nvPr/>
        </p:nvSpPr>
        <p:spPr>
          <a:xfrm flipH="false" flipV="false" rot="0">
            <a:off x="7409323" y="-2700100"/>
            <a:ext cx="5493058" cy="4114800"/>
          </a:xfrm>
          <a:custGeom>
            <a:avLst/>
            <a:gdLst/>
            <a:ahLst/>
            <a:cxnLst/>
            <a:rect r="r" b="b" t="t" l="l"/>
            <a:pathLst>
              <a:path h="4114800" w="5493058">
                <a:moveTo>
                  <a:pt x="0" y="0"/>
                </a:moveTo>
                <a:lnTo>
                  <a:pt x="5493058" y="0"/>
                </a:lnTo>
                <a:lnTo>
                  <a:pt x="5493058" y="4114800"/>
                </a:lnTo>
                <a:lnTo>
                  <a:pt x="0" y="4114800"/>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a:ln cap="sq">
            <a:noFill/>
            <a:prstDash val="solid"/>
            <a:miter/>
          </a:ln>
        </p:spPr>
      </p:sp>
      <p:sp>
        <p:nvSpPr>
          <p:cNvPr name="Freeform 10" id="10"/>
          <p:cNvSpPr/>
          <p:nvPr/>
        </p:nvSpPr>
        <p:spPr>
          <a:xfrm flipH="false" flipV="false" rot="4747568">
            <a:off x="-2972342" y="3665317"/>
            <a:ext cx="4896097" cy="2735694"/>
          </a:xfrm>
          <a:custGeom>
            <a:avLst/>
            <a:gdLst/>
            <a:ahLst/>
            <a:cxnLst/>
            <a:rect r="r" b="b" t="t" l="l"/>
            <a:pathLst>
              <a:path h="2735694" w="4896097">
                <a:moveTo>
                  <a:pt x="0" y="0"/>
                </a:moveTo>
                <a:lnTo>
                  <a:pt x="4896097" y="0"/>
                </a:lnTo>
                <a:lnTo>
                  <a:pt x="4896097" y="2735694"/>
                </a:lnTo>
                <a:lnTo>
                  <a:pt x="0" y="2735694"/>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a:ln cap="sq">
            <a:noFill/>
            <a:prstDash val="solid"/>
            <a:miter/>
          </a:ln>
        </p:spPr>
      </p:sp>
      <p:sp>
        <p:nvSpPr>
          <p:cNvPr name="Freeform 11" id="11"/>
          <p:cNvSpPr/>
          <p:nvPr/>
        </p:nvSpPr>
        <p:spPr>
          <a:xfrm flipH="false" flipV="false" rot="0">
            <a:off x="4831481" y="-1626507"/>
            <a:ext cx="2892762" cy="2919301"/>
          </a:xfrm>
          <a:custGeom>
            <a:avLst/>
            <a:gdLst/>
            <a:ahLst/>
            <a:cxnLst/>
            <a:rect r="r" b="b" t="t" l="l"/>
            <a:pathLst>
              <a:path h="2919301" w="2892762">
                <a:moveTo>
                  <a:pt x="0" y="0"/>
                </a:moveTo>
                <a:lnTo>
                  <a:pt x="2892761" y="0"/>
                </a:lnTo>
                <a:lnTo>
                  <a:pt x="2892761" y="2919300"/>
                </a:lnTo>
                <a:lnTo>
                  <a:pt x="0" y="2919300"/>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a:ln cap="sq">
            <a:noFill/>
            <a:prstDash val="solid"/>
            <a:miter/>
          </a:ln>
        </p:spPr>
      </p:sp>
      <p:sp>
        <p:nvSpPr>
          <p:cNvPr name="Freeform 12" id="12"/>
          <p:cNvSpPr/>
          <p:nvPr/>
        </p:nvSpPr>
        <p:spPr>
          <a:xfrm flipH="false" flipV="false" rot="0">
            <a:off x="17259300" y="2262342"/>
            <a:ext cx="3575541" cy="3575541"/>
          </a:xfrm>
          <a:custGeom>
            <a:avLst/>
            <a:gdLst/>
            <a:ahLst/>
            <a:cxnLst/>
            <a:rect r="r" b="b" t="t" l="l"/>
            <a:pathLst>
              <a:path h="3575541" w="3575541">
                <a:moveTo>
                  <a:pt x="0" y="0"/>
                </a:moveTo>
                <a:lnTo>
                  <a:pt x="3575541" y="0"/>
                </a:lnTo>
                <a:lnTo>
                  <a:pt x="3575541" y="3575541"/>
                </a:lnTo>
                <a:lnTo>
                  <a:pt x="0" y="3575541"/>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a:ln cap="sq">
            <a:noFill/>
            <a:prstDash val="solid"/>
            <a:miter/>
          </a:ln>
        </p:spPr>
      </p:sp>
      <p:sp>
        <p:nvSpPr>
          <p:cNvPr name="Freeform 13" id="13"/>
          <p:cNvSpPr/>
          <p:nvPr/>
        </p:nvSpPr>
        <p:spPr>
          <a:xfrm flipH="false" flipV="false" rot="0">
            <a:off x="2570549" y="9093737"/>
            <a:ext cx="2587020" cy="2386526"/>
          </a:xfrm>
          <a:custGeom>
            <a:avLst/>
            <a:gdLst/>
            <a:ahLst/>
            <a:cxnLst/>
            <a:rect r="r" b="b" t="t" l="l"/>
            <a:pathLst>
              <a:path h="2386526" w="2587020">
                <a:moveTo>
                  <a:pt x="0" y="0"/>
                </a:moveTo>
                <a:lnTo>
                  <a:pt x="2587020" y="0"/>
                </a:lnTo>
                <a:lnTo>
                  <a:pt x="2587020" y="2386526"/>
                </a:lnTo>
                <a:lnTo>
                  <a:pt x="0" y="2386526"/>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a:ln cap="sq">
            <a:noFill/>
            <a:prstDash val="solid"/>
            <a:miter/>
          </a:ln>
        </p:spPr>
      </p:sp>
      <p:sp>
        <p:nvSpPr>
          <p:cNvPr name="Freeform 14" id="14"/>
          <p:cNvSpPr/>
          <p:nvPr/>
        </p:nvSpPr>
        <p:spPr>
          <a:xfrm flipH="false" flipV="false" rot="-5282649">
            <a:off x="16440369" y="6970869"/>
            <a:ext cx="3382987" cy="1154444"/>
          </a:xfrm>
          <a:custGeom>
            <a:avLst/>
            <a:gdLst/>
            <a:ahLst/>
            <a:cxnLst/>
            <a:rect r="r" b="b" t="t" l="l"/>
            <a:pathLst>
              <a:path h="1154444" w="3382987">
                <a:moveTo>
                  <a:pt x="0" y="0"/>
                </a:moveTo>
                <a:lnTo>
                  <a:pt x="3382987" y="0"/>
                </a:lnTo>
                <a:lnTo>
                  <a:pt x="3382987" y="1154445"/>
                </a:lnTo>
                <a:lnTo>
                  <a:pt x="0" y="1154445"/>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a:ln cap="sq">
            <a:noFill/>
            <a:prstDash val="solid"/>
            <a:miter/>
          </a:ln>
        </p:spPr>
      </p:sp>
      <p:sp>
        <p:nvSpPr>
          <p:cNvPr name="Freeform 15" id="15"/>
          <p:cNvSpPr/>
          <p:nvPr/>
        </p:nvSpPr>
        <p:spPr>
          <a:xfrm flipH="false" flipV="false" rot="0">
            <a:off x="16978638" y="-642644"/>
            <a:ext cx="3104522" cy="3342688"/>
          </a:xfrm>
          <a:custGeom>
            <a:avLst/>
            <a:gdLst/>
            <a:ahLst/>
            <a:cxnLst/>
            <a:rect r="r" b="b" t="t" l="l"/>
            <a:pathLst>
              <a:path h="3342688" w="3104522">
                <a:moveTo>
                  <a:pt x="0" y="0"/>
                </a:moveTo>
                <a:lnTo>
                  <a:pt x="3104522" y="0"/>
                </a:lnTo>
                <a:lnTo>
                  <a:pt x="3104522" y="3342688"/>
                </a:lnTo>
                <a:lnTo>
                  <a:pt x="0" y="3342688"/>
                </a:lnTo>
                <a:lnTo>
                  <a:pt x="0" y="0"/>
                </a:lnTo>
                <a:close/>
              </a:path>
            </a:pathLst>
          </a:custGeom>
          <a:blipFill>
            <a:blip r:embed="rId27">
              <a:extLst>
                <a:ext uri="{96DAC541-7B7A-43D3-8B79-37D633B846F1}">
                  <asvg:svgBlip xmlns:asvg="http://schemas.microsoft.com/office/drawing/2016/SVG/main" r:embed="rId28"/>
                </a:ext>
              </a:extLst>
            </a:blip>
            <a:stretch>
              <a:fillRect l="0" t="0" r="0" b="0"/>
            </a:stretch>
          </a:blipFill>
          <a:ln cap="sq">
            <a:noFill/>
            <a:prstDash val="solid"/>
            <a:miter/>
          </a:ln>
        </p:spPr>
      </p:sp>
      <p:sp>
        <p:nvSpPr>
          <p:cNvPr name="TextBox 16" id="16"/>
          <p:cNvSpPr txBox="true"/>
          <p:nvPr/>
        </p:nvSpPr>
        <p:spPr>
          <a:xfrm rot="0">
            <a:off x="3688802" y="3467572"/>
            <a:ext cx="10910396" cy="3364511"/>
          </a:xfrm>
          <a:prstGeom prst="rect">
            <a:avLst/>
          </a:prstGeom>
        </p:spPr>
        <p:txBody>
          <a:bodyPr anchor="t" rtlCol="false" tIns="0" lIns="0" bIns="0" rIns="0">
            <a:spAutoFit/>
          </a:bodyPr>
          <a:lstStyle/>
          <a:p>
            <a:pPr algn="ctr">
              <a:lnSpc>
                <a:spcPts val="12699"/>
              </a:lnSpc>
            </a:pPr>
            <a:r>
              <a:rPr lang="en-US" b="true" sz="14597">
                <a:solidFill>
                  <a:srgbClr val="000000"/>
                </a:solidFill>
                <a:latin typeface="DM Sans Bold"/>
                <a:ea typeface="DM Sans Bold"/>
                <a:cs typeface="DM Sans Bold"/>
                <a:sym typeface="DM Sans Bold"/>
              </a:rPr>
              <a:t>Thank you very much!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DAGVKge-BXY</dc:identifier>
  <dcterms:modified xsi:type="dcterms:W3CDTF">2011-08-01T06:04:30Z</dcterms:modified>
  <cp:revision>1</cp:revision>
  <dc:title>Major Project Presentation</dc:title>
</cp:coreProperties>
</file>